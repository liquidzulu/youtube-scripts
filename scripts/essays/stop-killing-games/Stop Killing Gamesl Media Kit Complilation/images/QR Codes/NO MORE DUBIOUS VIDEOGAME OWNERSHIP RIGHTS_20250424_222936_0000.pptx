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18288000" cy="10287000"/>
  <p:notesSz cx="6858000" cy="9144000"/>
  <p:embeddedFontLst>
    <p:embeddedFont>
      <p:font typeface="Anton" charset="1" panose="00000500000000000000"/>
      <p:regular r:id="rId7"/>
    </p:embeddedFont>
    <p:embeddedFont>
      <p:font typeface="DM Serif Display" charset="1" panose="00000000000000000000"/>
      <p:regular r:id="rId8"/>
    </p:embeddedFont>
    <p:embeddedFont>
      <p:font typeface="Merriweather Bold" charset="1" panose="0000080000000000000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382" y="229253"/>
            <a:ext cx="17832198" cy="9828495"/>
            <a:chOff x="0" y="0"/>
            <a:chExt cx="4696546" cy="2588575"/>
          </a:xfrm>
        </p:grpSpPr>
        <p:sp>
          <p:nvSpPr>
            <p:cNvPr name="Freeform 6" id="6"/>
            <p:cNvSpPr/>
            <p:nvPr/>
          </p:nvSpPr>
          <p:spPr>
            <a:xfrm flipH="false" flipV="false" rot="0">
              <a:off x="0" y="0"/>
              <a:ext cx="4696546" cy="2588575"/>
            </a:xfrm>
            <a:custGeom>
              <a:avLst/>
              <a:gdLst/>
              <a:ahLst/>
              <a:cxnLst/>
              <a:rect r="r" b="b" t="t" l="l"/>
              <a:pathLst>
                <a:path h="2588575" w="4696546">
                  <a:moveTo>
                    <a:pt x="22142" y="0"/>
                  </a:moveTo>
                  <a:lnTo>
                    <a:pt x="4674405" y="0"/>
                  </a:lnTo>
                  <a:cubicBezTo>
                    <a:pt x="4686633" y="0"/>
                    <a:pt x="4696546" y="9913"/>
                    <a:pt x="4696546" y="22142"/>
                  </a:cubicBezTo>
                  <a:lnTo>
                    <a:pt x="4696546" y="2566433"/>
                  </a:lnTo>
                  <a:cubicBezTo>
                    <a:pt x="4696546" y="2578662"/>
                    <a:pt x="4686633" y="2588575"/>
                    <a:pt x="4674405" y="2588575"/>
                  </a:cubicBezTo>
                  <a:lnTo>
                    <a:pt x="22142" y="2588575"/>
                  </a:lnTo>
                  <a:cubicBezTo>
                    <a:pt x="9913" y="2588575"/>
                    <a:pt x="0" y="2578662"/>
                    <a:pt x="0" y="2566433"/>
                  </a:cubicBezTo>
                  <a:lnTo>
                    <a:pt x="0" y="22142"/>
                  </a:lnTo>
                  <a:cubicBezTo>
                    <a:pt x="0" y="9913"/>
                    <a:pt x="9913" y="0"/>
                    <a:pt x="22142" y="0"/>
                  </a:cubicBezTo>
                  <a:close/>
                </a:path>
              </a:pathLst>
            </a:custGeom>
            <a:solidFill>
              <a:srgbClr val="004AAD"/>
            </a:solidFill>
          </p:spPr>
        </p:sp>
        <p:sp>
          <p:nvSpPr>
            <p:cNvPr name="TextBox 7" id="7"/>
            <p:cNvSpPr txBox="true"/>
            <p:nvPr/>
          </p:nvSpPr>
          <p:spPr>
            <a:xfrm>
              <a:off x="0" y="-38100"/>
              <a:ext cx="4696546" cy="2626675"/>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flipV="true">
            <a:off x="491607" y="2939409"/>
            <a:ext cx="17193749" cy="0"/>
          </a:xfrm>
          <a:prstGeom prst="line">
            <a:avLst/>
          </a:prstGeom>
          <a:ln cap="flat" w="76200">
            <a:solidFill>
              <a:srgbClr val="FFFFFF"/>
            </a:solidFill>
            <a:prstDash val="solid"/>
            <a:headEnd type="none" len="sm" w="sm"/>
            <a:tailEnd type="none" len="sm" w="sm"/>
          </a:ln>
        </p:spPr>
      </p:sp>
      <p:grpSp>
        <p:nvGrpSpPr>
          <p:cNvPr name="Group 9" id="9"/>
          <p:cNvGrpSpPr/>
          <p:nvPr/>
        </p:nvGrpSpPr>
        <p:grpSpPr>
          <a:xfrm rot="0">
            <a:off x="2528435" y="1600194"/>
            <a:ext cx="1306302" cy="1245069"/>
            <a:chOff x="0" y="0"/>
            <a:chExt cx="812800" cy="774700"/>
          </a:xfrm>
        </p:grpSpPr>
        <p:sp>
          <p:nvSpPr>
            <p:cNvPr name="Freeform 10" id="10"/>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sp>
        <p:sp>
          <p:nvSpPr>
            <p:cNvPr name="TextBox 11" id="11"/>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517724" y="304806"/>
            <a:ext cx="19212410" cy="1295389"/>
          </a:xfrm>
          <a:prstGeom prst="rect">
            <a:avLst/>
          </a:prstGeom>
        </p:spPr>
        <p:txBody>
          <a:bodyPr anchor="t" rtlCol="false" tIns="0" lIns="0" bIns="0" rIns="0">
            <a:spAutoFit/>
          </a:bodyPr>
          <a:lstStyle/>
          <a:p>
            <a:pPr algn="ctr">
              <a:lnSpc>
                <a:spcPts val="10500"/>
              </a:lnSpc>
            </a:pPr>
            <a:r>
              <a:rPr lang="en-US" sz="7500">
                <a:solidFill>
                  <a:srgbClr val="FFFFFF"/>
                </a:solidFill>
                <a:latin typeface="Anton"/>
                <a:ea typeface="Anton"/>
                <a:cs typeface="Anton"/>
                <a:sym typeface="Anton"/>
              </a:rPr>
              <a:t>NO MORE DUBIOUS VIDEOGAME OWNERSHIP RIGHTS</a:t>
            </a:r>
          </a:p>
        </p:txBody>
      </p:sp>
      <p:sp>
        <p:nvSpPr>
          <p:cNvPr name="TextBox 13" id="13"/>
          <p:cNvSpPr txBox="true"/>
          <p:nvPr/>
        </p:nvSpPr>
        <p:spPr>
          <a:xfrm rot="0">
            <a:off x="3912112" y="1533519"/>
            <a:ext cx="10463776" cy="1339214"/>
          </a:xfrm>
          <a:prstGeom prst="rect">
            <a:avLst/>
          </a:prstGeom>
        </p:spPr>
        <p:txBody>
          <a:bodyPr anchor="t" rtlCol="false" tIns="0" lIns="0" bIns="0" rIns="0">
            <a:spAutoFit/>
          </a:bodyPr>
          <a:lstStyle/>
          <a:p>
            <a:pPr algn="ctr">
              <a:lnSpc>
                <a:spcPts val="5460"/>
              </a:lnSpc>
            </a:pPr>
            <a:r>
              <a:rPr lang="en-US" sz="3900">
                <a:solidFill>
                  <a:srgbClr val="FFFFFF"/>
                </a:solidFill>
                <a:latin typeface="DM Serif Display"/>
                <a:ea typeface="DM Serif Display"/>
                <a:cs typeface="DM Serif Display"/>
                <a:sym typeface="DM Serif Display"/>
              </a:rPr>
              <a:t>Let's save what we rightfully own from the void!</a:t>
            </a:r>
          </a:p>
          <a:p>
            <a:pPr algn="ctr">
              <a:lnSpc>
                <a:spcPts val="5460"/>
              </a:lnSpc>
            </a:pPr>
            <a:r>
              <a:rPr lang="en-US" sz="3900">
                <a:solidFill>
                  <a:srgbClr val="FFFFFF"/>
                </a:solidFill>
                <a:latin typeface="DM Serif Display"/>
                <a:ea typeface="DM Serif Display"/>
                <a:cs typeface="DM Serif Display"/>
                <a:sym typeface="DM Serif Display"/>
              </a:rPr>
              <a:t>People within the EU, sign the petition!</a:t>
            </a:r>
          </a:p>
        </p:txBody>
      </p:sp>
      <p:grpSp>
        <p:nvGrpSpPr>
          <p:cNvPr name="Group 14" id="14"/>
          <p:cNvGrpSpPr/>
          <p:nvPr/>
        </p:nvGrpSpPr>
        <p:grpSpPr>
          <a:xfrm rot="0">
            <a:off x="1306302" y="1600194"/>
            <a:ext cx="1306302" cy="1245069"/>
            <a:chOff x="0" y="0"/>
            <a:chExt cx="812800" cy="774700"/>
          </a:xfrm>
        </p:grpSpPr>
        <p:sp>
          <p:nvSpPr>
            <p:cNvPr name="Freeform 15" id="15"/>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sp>
        <p:sp>
          <p:nvSpPr>
            <p:cNvPr name="TextBox 16" id="16"/>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72382" y="1600194"/>
            <a:ext cx="1306302" cy="1245069"/>
            <a:chOff x="0" y="0"/>
            <a:chExt cx="812800" cy="774700"/>
          </a:xfrm>
        </p:grpSpPr>
        <p:sp>
          <p:nvSpPr>
            <p:cNvPr name="Freeform 18" id="18"/>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sp>
        <p:sp>
          <p:nvSpPr>
            <p:cNvPr name="TextBox 19" id="19"/>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4364986" y="1627665"/>
            <a:ext cx="1306302" cy="1245069"/>
            <a:chOff x="0" y="0"/>
            <a:chExt cx="812800" cy="774700"/>
          </a:xfrm>
        </p:grpSpPr>
        <p:sp>
          <p:nvSpPr>
            <p:cNvPr name="Freeform 21" id="21"/>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sp>
        <p:sp>
          <p:nvSpPr>
            <p:cNvPr name="TextBox 22" id="22"/>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5499838" y="1627665"/>
            <a:ext cx="1306302" cy="1245069"/>
            <a:chOff x="0" y="0"/>
            <a:chExt cx="812800" cy="774700"/>
          </a:xfrm>
        </p:grpSpPr>
        <p:sp>
          <p:nvSpPr>
            <p:cNvPr name="Freeform 24" id="24"/>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sp>
        <p:sp>
          <p:nvSpPr>
            <p:cNvPr name="TextBox 25" id="25"/>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16698279" y="1627665"/>
            <a:ext cx="1306302" cy="1245069"/>
            <a:chOff x="0" y="0"/>
            <a:chExt cx="812800" cy="774700"/>
          </a:xfrm>
        </p:grpSpPr>
        <p:sp>
          <p:nvSpPr>
            <p:cNvPr name="Freeform 27" id="27"/>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sp>
        <p:sp>
          <p:nvSpPr>
            <p:cNvPr name="TextBox 28" id="28"/>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sp>
        <p:nvSpPr>
          <p:cNvPr name="Freeform 29" id="29"/>
          <p:cNvSpPr/>
          <p:nvPr/>
        </p:nvSpPr>
        <p:spPr>
          <a:xfrm flipH="false" flipV="false" rot="0">
            <a:off x="8025396" y="4410557"/>
            <a:ext cx="2851290" cy="2851290"/>
          </a:xfrm>
          <a:custGeom>
            <a:avLst/>
            <a:gdLst/>
            <a:ahLst/>
            <a:cxnLst/>
            <a:rect r="r" b="b" t="t" l="l"/>
            <a:pathLst>
              <a:path h="2851290" w="2851290">
                <a:moveTo>
                  <a:pt x="0" y="0"/>
                </a:moveTo>
                <a:lnTo>
                  <a:pt x="2851290" y="0"/>
                </a:lnTo>
                <a:lnTo>
                  <a:pt x="2851290" y="2851290"/>
                </a:lnTo>
                <a:lnTo>
                  <a:pt x="0" y="2851290"/>
                </a:lnTo>
                <a:lnTo>
                  <a:pt x="0" y="0"/>
                </a:lnTo>
                <a:close/>
              </a:path>
            </a:pathLst>
          </a:custGeom>
          <a:blipFill>
            <a:blip r:embed="rId2"/>
            <a:stretch>
              <a:fillRect l="0" t="0" r="0" b="0"/>
            </a:stretch>
          </a:blipFill>
        </p:spPr>
      </p:sp>
      <p:sp>
        <p:nvSpPr>
          <p:cNvPr name="TextBox 30" id="30"/>
          <p:cNvSpPr txBox="true"/>
          <p:nvPr/>
        </p:nvSpPr>
        <p:spPr>
          <a:xfrm rot="0">
            <a:off x="1050538" y="2977509"/>
            <a:ext cx="5816329" cy="521334"/>
          </a:xfrm>
          <a:prstGeom prst="rect">
            <a:avLst/>
          </a:prstGeom>
        </p:spPr>
        <p:txBody>
          <a:bodyPr anchor="t" rtlCol="false" tIns="0" lIns="0" bIns="0" rIns="0">
            <a:spAutoFit/>
          </a:bodyPr>
          <a:lstStyle/>
          <a:p>
            <a:pPr algn="ctr">
              <a:lnSpc>
                <a:spcPts val="4340"/>
              </a:lnSpc>
            </a:pPr>
            <a:r>
              <a:rPr lang="en-US" sz="3100" b="true">
                <a:solidFill>
                  <a:srgbClr val="FFDE59"/>
                </a:solidFill>
                <a:latin typeface="Merriweather Bold"/>
                <a:ea typeface="Merriweather Bold"/>
                <a:cs typeface="Merriweather Bold"/>
                <a:sym typeface="Merriweather Bold"/>
              </a:rPr>
              <a:t>1. What is this petition about?</a:t>
            </a:r>
          </a:p>
        </p:txBody>
      </p:sp>
      <p:sp>
        <p:nvSpPr>
          <p:cNvPr name="TextBox 31" id="31"/>
          <p:cNvSpPr txBox="true"/>
          <p:nvPr/>
        </p:nvSpPr>
        <p:spPr>
          <a:xfrm rot="0">
            <a:off x="475357" y="3508367"/>
            <a:ext cx="7369063" cy="1406523"/>
          </a:xfrm>
          <a:prstGeom prst="rect">
            <a:avLst/>
          </a:prstGeom>
        </p:spPr>
        <p:txBody>
          <a:bodyPr anchor="t" rtlCol="false" tIns="0" lIns="0" bIns="0" rIns="0">
            <a:spAutoFit/>
          </a:bodyPr>
          <a:lstStyle/>
          <a:p>
            <a:pPr algn="ctr">
              <a:lnSpc>
                <a:spcPts val="2800"/>
              </a:lnSpc>
            </a:pPr>
            <a:r>
              <a:rPr lang="en-US" sz="2000" b="true">
                <a:solidFill>
                  <a:srgbClr val="FFFFFF"/>
                </a:solidFill>
                <a:latin typeface="Merriweather Bold"/>
                <a:ea typeface="Merriweather Bold"/>
                <a:cs typeface="Merriweather Bold"/>
                <a:sym typeface="Merriweather Bold"/>
              </a:rPr>
              <a:t>This petition (officially called 'Stop Destroying Videogames') advocates for games that shut down, are abandoned, or no longer supported to be left in a playable state for consumers. By the publishers of said games.</a:t>
            </a:r>
          </a:p>
        </p:txBody>
      </p:sp>
      <p:sp>
        <p:nvSpPr>
          <p:cNvPr name="TextBox 32" id="32"/>
          <p:cNvSpPr txBox="true"/>
          <p:nvPr/>
        </p:nvSpPr>
        <p:spPr>
          <a:xfrm rot="0">
            <a:off x="2531081" y="4914890"/>
            <a:ext cx="2855244" cy="521334"/>
          </a:xfrm>
          <a:prstGeom prst="rect">
            <a:avLst/>
          </a:prstGeom>
        </p:spPr>
        <p:txBody>
          <a:bodyPr anchor="t" rtlCol="false" tIns="0" lIns="0" bIns="0" rIns="0">
            <a:spAutoFit/>
          </a:bodyPr>
          <a:lstStyle/>
          <a:p>
            <a:pPr algn="ctr">
              <a:lnSpc>
                <a:spcPts val="4340"/>
              </a:lnSpc>
            </a:pPr>
            <a:r>
              <a:rPr lang="en-US" sz="3100" b="true">
                <a:solidFill>
                  <a:srgbClr val="FFDE59"/>
                </a:solidFill>
                <a:latin typeface="Merriweather Bold"/>
                <a:ea typeface="Merriweather Bold"/>
                <a:cs typeface="Merriweather Bold"/>
                <a:sym typeface="Merriweather Bold"/>
              </a:rPr>
              <a:t>2. Is this legit?</a:t>
            </a:r>
          </a:p>
        </p:txBody>
      </p:sp>
      <p:sp>
        <p:nvSpPr>
          <p:cNvPr name="TextBox 33" id="33"/>
          <p:cNvSpPr txBox="true"/>
          <p:nvPr/>
        </p:nvSpPr>
        <p:spPr>
          <a:xfrm rot="0">
            <a:off x="404287" y="5445749"/>
            <a:ext cx="7533789" cy="1758948"/>
          </a:xfrm>
          <a:prstGeom prst="rect">
            <a:avLst/>
          </a:prstGeom>
        </p:spPr>
        <p:txBody>
          <a:bodyPr anchor="t" rtlCol="false" tIns="0" lIns="0" bIns="0" rIns="0">
            <a:spAutoFit/>
          </a:bodyPr>
          <a:lstStyle/>
          <a:p>
            <a:pPr algn="ctr">
              <a:lnSpc>
                <a:spcPts val="2800"/>
              </a:lnSpc>
            </a:pPr>
            <a:r>
              <a:rPr lang="en-US" sz="2000" b="true">
                <a:solidFill>
                  <a:srgbClr val="FFFFFF"/>
                </a:solidFill>
                <a:latin typeface="Merriweather Bold"/>
                <a:ea typeface="Merriweather Bold"/>
                <a:cs typeface="Merriweather Bold"/>
                <a:sym typeface="Merriweather Bold"/>
              </a:rPr>
              <a:t>Yes — this is an official EU petition, hosted on the European Union’s own platform (URLs ending in europa.eu). It’s not just a random online petition. This initiative is backed by real organizers from seven EU countries and has been formally approved. </a:t>
            </a:r>
          </a:p>
        </p:txBody>
      </p:sp>
      <p:sp>
        <p:nvSpPr>
          <p:cNvPr name="TextBox 34" id="34"/>
          <p:cNvSpPr txBox="true"/>
          <p:nvPr/>
        </p:nvSpPr>
        <p:spPr>
          <a:xfrm rot="0">
            <a:off x="2531081" y="7204697"/>
            <a:ext cx="3326042" cy="521334"/>
          </a:xfrm>
          <a:prstGeom prst="rect">
            <a:avLst/>
          </a:prstGeom>
        </p:spPr>
        <p:txBody>
          <a:bodyPr anchor="t" rtlCol="false" tIns="0" lIns="0" bIns="0" rIns="0">
            <a:spAutoFit/>
          </a:bodyPr>
          <a:lstStyle/>
          <a:p>
            <a:pPr algn="ctr">
              <a:lnSpc>
                <a:spcPts val="4340"/>
              </a:lnSpc>
            </a:pPr>
            <a:r>
              <a:rPr lang="en-US" sz="3100" b="true">
                <a:solidFill>
                  <a:srgbClr val="FFDE59"/>
                </a:solidFill>
                <a:latin typeface="Merriweather Bold"/>
                <a:ea typeface="Merriweather Bold"/>
                <a:cs typeface="Merriweather Bold"/>
                <a:sym typeface="Merriweather Bold"/>
              </a:rPr>
              <a:t>3. How do I sign?</a:t>
            </a:r>
          </a:p>
        </p:txBody>
      </p:sp>
      <p:sp>
        <p:nvSpPr>
          <p:cNvPr name="TextBox 35" id="35"/>
          <p:cNvSpPr txBox="true"/>
          <p:nvPr/>
        </p:nvSpPr>
        <p:spPr>
          <a:xfrm rot="0">
            <a:off x="491607" y="7735556"/>
            <a:ext cx="7533789" cy="2111373"/>
          </a:xfrm>
          <a:prstGeom prst="rect">
            <a:avLst/>
          </a:prstGeom>
        </p:spPr>
        <p:txBody>
          <a:bodyPr anchor="t" rtlCol="false" tIns="0" lIns="0" bIns="0" rIns="0">
            <a:spAutoFit/>
          </a:bodyPr>
          <a:lstStyle/>
          <a:p>
            <a:pPr algn="ctr">
              <a:lnSpc>
                <a:spcPts val="2800"/>
              </a:lnSpc>
            </a:pPr>
            <a:r>
              <a:rPr lang="en-US" sz="2000" b="true">
                <a:solidFill>
                  <a:srgbClr val="FFFFFF"/>
                </a:solidFill>
                <a:latin typeface="Merriweather Bold"/>
                <a:ea typeface="Merriweather Bold"/>
                <a:cs typeface="Merriweather Bold"/>
                <a:sym typeface="Merriweather Bold"/>
              </a:rPr>
              <a:t>Scan the QR code on this image or search 'Stop Destroying Videogames' on the European Citizens' Initiative website. Click on the yellow button where it says 'Support this initiative' and then choose your EU country of residence, then go through the verification process. Only people within the EU can sign this petition.</a:t>
            </a:r>
          </a:p>
        </p:txBody>
      </p:sp>
      <p:sp>
        <p:nvSpPr>
          <p:cNvPr name="TextBox 36" id="36"/>
          <p:cNvSpPr txBox="true"/>
          <p:nvPr/>
        </p:nvSpPr>
        <p:spPr>
          <a:xfrm rot="0">
            <a:off x="11472236" y="2948934"/>
            <a:ext cx="6213120" cy="521334"/>
          </a:xfrm>
          <a:prstGeom prst="rect">
            <a:avLst/>
          </a:prstGeom>
        </p:spPr>
        <p:txBody>
          <a:bodyPr anchor="t" rtlCol="false" tIns="0" lIns="0" bIns="0" rIns="0">
            <a:spAutoFit/>
          </a:bodyPr>
          <a:lstStyle/>
          <a:p>
            <a:pPr algn="ctr">
              <a:lnSpc>
                <a:spcPts val="4340"/>
              </a:lnSpc>
            </a:pPr>
            <a:r>
              <a:rPr lang="en-US" sz="3100" b="true">
                <a:solidFill>
                  <a:srgbClr val="FFDE59"/>
                </a:solidFill>
                <a:latin typeface="Merriweather Bold"/>
                <a:ea typeface="Merriweather Bold"/>
                <a:cs typeface="Merriweather Bold"/>
                <a:sym typeface="Merriweather Bold"/>
              </a:rPr>
              <a:t>4. When is the deadline to sign?</a:t>
            </a:r>
          </a:p>
        </p:txBody>
      </p:sp>
      <p:sp>
        <p:nvSpPr>
          <p:cNvPr name="TextBox 37" id="37"/>
          <p:cNvSpPr txBox="true"/>
          <p:nvPr/>
        </p:nvSpPr>
        <p:spPr>
          <a:xfrm rot="0">
            <a:off x="11053838" y="3451217"/>
            <a:ext cx="6644100" cy="1054098"/>
          </a:xfrm>
          <a:prstGeom prst="rect">
            <a:avLst/>
          </a:prstGeom>
        </p:spPr>
        <p:txBody>
          <a:bodyPr anchor="t" rtlCol="false" tIns="0" lIns="0" bIns="0" rIns="0">
            <a:spAutoFit/>
          </a:bodyPr>
          <a:lstStyle/>
          <a:p>
            <a:pPr algn="ctr">
              <a:lnSpc>
                <a:spcPts val="2800"/>
              </a:lnSpc>
            </a:pPr>
            <a:r>
              <a:rPr lang="en-US" sz="2000" b="true">
                <a:solidFill>
                  <a:srgbClr val="FFFFFF"/>
                </a:solidFill>
                <a:latin typeface="Merriweather Bold"/>
                <a:ea typeface="Merriweather Bold"/>
                <a:cs typeface="Merriweather Bold"/>
                <a:sym typeface="Merriweather Bold"/>
              </a:rPr>
              <a:t>The deadline is the 31st of July 2025. Share this image or the petition link with your family, friends, and on social media!</a:t>
            </a:r>
          </a:p>
        </p:txBody>
      </p:sp>
      <p:sp>
        <p:nvSpPr>
          <p:cNvPr name="TextBox 38" id="38"/>
          <p:cNvSpPr txBox="true"/>
          <p:nvPr/>
        </p:nvSpPr>
        <p:spPr>
          <a:xfrm rot="0">
            <a:off x="10673778" y="4457690"/>
            <a:ext cx="7404220" cy="824863"/>
          </a:xfrm>
          <a:prstGeom prst="rect">
            <a:avLst/>
          </a:prstGeom>
        </p:spPr>
        <p:txBody>
          <a:bodyPr anchor="t" rtlCol="false" tIns="0" lIns="0" bIns="0" rIns="0">
            <a:spAutoFit/>
          </a:bodyPr>
          <a:lstStyle/>
          <a:p>
            <a:pPr algn="ctr">
              <a:lnSpc>
                <a:spcPts val="3360"/>
              </a:lnSpc>
            </a:pPr>
            <a:r>
              <a:rPr lang="en-US" sz="2400" b="true">
                <a:solidFill>
                  <a:srgbClr val="FFDE59"/>
                </a:solidFill>
                <a:latin typeface="Merriweather Bold"/>
                <a:ea typeface="Merriweather Bold"/>
                <a:cs typeface="Merriweather Bold"/>
                <a:sym typeface="Merriweather Bold"/>
              </a:rPr>
              <a:t>5. If this is implemented, won't a bunch of publishers leave the EU market?</a:t>
            </a:r>
          </a:p>
        </p:txBody>
      </p:sp>
      <p:sp>
        <p:nvSpPr>
          <p:cNvPr name="TextBox 39" id="39"/>
          <p:cNvSpPr txBox="true"/>
          <p:nvPr/>
        </p:nvSpPr>
        <p:spPr>
          <a:xfrm rot="0">
            <a:off x="10600361" y="7678406"/>
            <a:ext cx="7404220" cy="405763"/>
          </a:xfrm>
          <a:prstGeom prst="rect">
            <a:avLst/>
          </a:prstGeom>
        </p:spPr>
        <p:txBody>
          <a:bodyPr anchor="t" rtlCol="false" tIns="0" lIns="0" bIns="0" rIns="0">
            <a:spAutoFit/>
          </a:bodyPr>
          <a:lstStyle/>
          <a:p>
            <a:pPr algn="ctr">
              <a:lnSpc>
                <a:spcPts val="3360"/>
              </a:lnSpc>
            </a:pPr>
            <a:r>
              <a:rPr lang="en-US" sz="2400" b="true">
                <a:solidFill>
                  <a:srgbClr val="FFDE59"/>
                </a:solidFill>
                <a:latin typeface="Merriweather Bold"/>
                <a:ea typeface="Merriweather Bold"/>
                <a:cs typeface="Merriweather Bold"/>
                <a:sym typeface="Merriweather Bold"/>
              </a:rPr>
              <a:t>6. I'm not from the EU, why should I care?</a:t>
            </a:r>
          </a:p>
        </p:txBody>
      </p:sp>
      <p:sp>
        <p:nvSpPr>
          <p:cNvPr name="TextBox 40" id="40"/>
          <p:cNvSpPr txBox="true"/>
          <p:nvPr/>
        </p:nvSpPr>
        <p:spPr>
          <a:xfrm rot="0">
            <a:off x="11053838" y="5263504"/>
            <a:ext cx="6644100" cy="2463798"/>
          </a:xfrm>
          <a:prstGeom prst="rect">
            <a:avLst/>
          </a:prstGeom>
        </p:spPr>
        <p:txBody>
          <a:bodyPr anchor="t" rtlCol="false" tIns="0" lIns="0" bIns="0" rIns="0">
            <a:spAutoFit/>
          </a:bodyPr>
          <a:lstStyle/>
          <a:p>
            <a:pPr algn="ctr">
              <a:lnSpc>
                <a:spcPts val="2800"/>
              </a:lnSpc>
            </a:pPr>
            <a:r>
              <a:rPr lang="en-US" sz="2000" b="true">
                <a:solidFill>
                  <a:srgbClr val="FFFFFF"/>
                </a:solidFill>
                <a:latin typeface="Merriweather Bold"/>
                <a:ea typeface="Merriweather Bold"/>
                <a:cs typeface="Merriweather Bold"/>
                <a:sym typeface="Merriweather Bold"/>
              </a:rPr>
              <a:t>Yes, some may. However, the effect of the changes will not be immediate. The organisers and the EU will surely give ample time for publishers to implement the changes necessary to comply with the new rules. Remember, the rules are for the *end* of a game's life, not its beginning or present state.</a:t>
            </a:r>
          </a:p>
        </p:txBody>
      </p:sp>
      <p:sp>
        <p:nvSpPr>
          <p:cNvPr name="TextBox 41" id="41"/>
          <p:cNvSpPr txBox="true"/>
          <p:nvPr/>
        </p:nvSpPr>
        <p:spPr>
          <a:xfrm rot="0">
            <a:off x="11041256" y="8065119"/>
            <a:ext cx="6644100" cy="1887853"/>
          </a:xfrm>
          <a:prstGeom prst="rect">
            <a:avLst/>
          </a:prstGeom>
        </p:spPr>
        <p:txBody>
          <a:bodyPr anchor="t" rtlCol="false" tIns="0" lIns="0" bIns="0" rIns="0">
            <a:spAutoFit/>
          </a:bodyPr>
          <a:lstStyle/>
          <a:p>
            <a:pPr algn="ctr">
              <a:lnSpc>
                <a:spcPts val="2520"/>
              </a:lnSpc>
            </a:pPr>
            <a:r>
              <a:rPr lang="en-US" sz="1800" b="true">
                <a:solidFill>
                  <a:srgbClr val="FFFFFF"/>
                </a:solidFill>
                <a:latin typeface="Merriweather Bold"/>
                <a:ea typeface="Merriweather Bold"/>
                <a:cs typeface="Merriweather Bold"/>
                <a:sym typeface="Merriweather Bold"/>
              </a:rPr>
              <a:t>While these proposed changes do not affect you directly, it's not impossible that it may later down the line. Just like the enforcement of USB-C type charging ports for iPhones in the EU and subsequently the rest of the world, this too can have a snowball effect. This change can benefit you too! So please, spread the word.</a:t>
            </a:r>
          </a:p>
        </p:txBody>
      </p:sp>
      <p:sp>
        <p:nvSpPr>
          <p:cNvPr name="TextBox 42" id="42"/>
          <p:cNvSpPr txBox="true"/>
          <p:nvPr/>
        </p:nvSpPr>
        <p:spPr>
          <a:xfrm rot="0">
            <a:off x="8629293" y="3698087"/>
            <a:ext cx="1709048" cy="712469"/>
          </a:xfrm>
          <a:prstGeom prst="rect">
            <a:avLst/>
          </a:prstGeom>
        </p:spPr>
        <p:txBody>
          <a:bodyPr anchor="t" rtlCol="false" tIns="0" lIns="0" bIns="0" rIns="0">
            <a:spAutoFit/>
          </a:bodyPr>
          <a:lstStyle/>
          <a:p>
            <a:pPr algn="ctr">
              <a:lnSpc>
                <a:spcPts val="5880"/>
              </a:lnSpc>
            </a:pPr>
            <a:r>
              <a:rPr lang="en-US" sz="4200" b="true">
                <a:solidFill>
                  <a:srgbClr val="FFFFFF"/>
                </a:solidFill>
                <a:latin typeface="Merriweather Bold"/>
                <a:ea typeface="Merriweather Bold"/>
                <a:cs typeface="Merriweather Bold"/>
                <a:sym typeface="Merriweather Bold"/>
              </a:rPr>
              <a:t>Give it</a:t>
            </a:r>
          </a:p>
        </p:txBody>
      </p:sp>
      <p:sp>
        <p:nvSpPr>
          <p:cNvPr name="TextBox 43" id="43"/>
          <p:cNvSpPr txBox="true"/>
          <p:nvPr/>
        </p:nvSpPr>
        <p:spPr>
          <a:xfrm rot="0">
            <a:off x="8240993" y="7214222"/>
            <a:ext cx="2485649" cy="712469"/>
          </a:xfrm>
          <a:prstGeom prst="rect">
            <a:avLst/>
          </a:prstGeom>
        </p:spPr>
        <p:txBody>
          <a:bodyPr anchor="t" rtlCol="false" tIns="0" lIns="0" bIns="0" rIns="0">
            <a:spAutoFit/>
          </a:bodyPr>
          <a:lstStyle/>
          <a:p>
            <a:pPr algn="ctr">
              <a:lnSpc>
                <a:spcPts val="5880"/>
              </a:lnSpc>
            </a:pPr>
            <a:r>
              <a:rPr lang="en-US" sz="4200" b="true">
                <a:solidFill>
                  <a:srgbClr val="FFFFFF"/>
                </a:solidFill>
                <a:latin typeface="Merriweather Bold"/>
                <a:ea typeface="Merriweather Bold"/>
                <a:cs typeface="Merriweather Bold"/>
                <a:sym typeface="Merriweather Bold"/>
              </a:rPr>
              <a:t>a chance!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DAGklwxBvKM</dc:identifier>
  <dcterms:modified xsi:type="dcterms:W3CDTF">2011-08-01T06:04:30Z</dcterms:modified>
  <cp:revision>1</cp:revision>
  <dc:title>NO MORE DUBIOUS VIDEOGAME OWNERSHIP RIGHTS</dc:title>
</cp:coreProperties>
</file>
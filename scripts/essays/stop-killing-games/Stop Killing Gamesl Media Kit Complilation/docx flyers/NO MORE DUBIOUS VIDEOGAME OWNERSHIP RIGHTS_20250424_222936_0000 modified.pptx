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57" r:id="rId4"/>
  </p:sldIdLst>
  <p:sldSz cx="18288000" cy="10287000"/>
  <p:notesSz cx="6858000" cy="9144000"/>
  <p:embeddedFontLst>
    <p:embeddedFont>
      <p:font typeface="Anton" pitchFamily="2" charset="0"/>
      <p:regular r:id="rId5"/>
    </p:embeddedFont>
    <p:embeddedFont>
      <p:font typeface="DM Serif Display" pitchFamily="2" charset="0"/>
      <p:regular r:id="rId6"/>
      <p:italic r:id="rId7"/>
    </p:embeddedFont>
    <p:embeddedFont>
      <p:font typeface="Merriweather Bold" panose="020B0604020202020204" charset="0"/>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C8FC7B-E275-409F-8925-9A0AF9AB0558}" v="6" dt="2025-04-26T15:44:54.9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3" d="100"/>
          <a:sy n="53" d="100"/>
        </p:scale>
        <p:origin x="802"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font" Target="fonts/font3.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theme" Target="theme/theme1.xml"/><Relationship Id="rId5" Type="http://schemas.openxmlformats.org/officeDocument/2006/relationships/font" Target="fonts/font1.fntdata"/><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rick Kozyra" userId="b17d1bb0e40929be" providerId="LiveId" clId="{2EC8FC7B-E275-409F-8925-9A0AF9AB0558}"/>
    <pc:docChg chg="undo redo custSel addSld delSld modSld">
      <pc:chgData name="Patrick Kozyra" userId="b17d1bb0e40929be" providerId="LiveId" clId="{2EC8FC7B-E275-409F-8925-9A0AF9AB0558}" dt="2025-04-27T02:57:16.672" v="1218" actId="47"/>
      <pc:docMkLst>
        <pc:docMk/>
      </pc:docMkLst>
      <pc:sldChg chg="addSp delSp modSp add del mod">
        <pc:chgData name="Patrick Kozyra" userId="b17d1bb0e40929be" providerId="LiveId" clId="{2EC8FC7B-E275-409F-8925-9A0AF9AB0558}" dt="2025-04-27T02:57:16.672" v="1218" actId="47"/>
        <pc:sldMkLst>
          <pc:docMk/>
          <pc:sldMk cId="0" sldId="256"/>
        </pc:sldMkLst>
        <pc:spChg chg="mod">
          <ac:chgData name="Patrick Kozyra" userId="b17d1bb0e40929be" providerId="LiveId" clId="{2EC8FC7B-E275-409F-8925-9A0AF9AB0558}" dt="2025-04-26T15:38:29.369" v="425" actId="20578"/>
          <ac:spMkLst>
            <pc:docMk/>
            <pc:sldMk cId="0" sldId="256"/>
            <ac:spMk id="13" creationId="{00000000-0000-0000-0000-000000000000}"/>
          </ac:spMkLst>
        </pc:spChg>
        <pc:spChg chg="mod">
          <ac:chgData name="Patrick Kozyra" userId="b17d1bb0e40929be" providerId="LiveId" clId="{2EC8FC7B-E275-409F-8925-9A0AF9AB0558}" dt="2025-04-26T15:26:17.358" v="68" actId="20577"/>
          <ac:spMkLst>
            <pc:docMk/>
            <pc:sldMk cId="0" sldId="256"/>
            <ac:spMk id="30" creationId="{00000000-0000-0000-0000-000000000000}"/>
          </ac:spMkLst>
        </pc:spChg>
        <pc:spChg chg="mod">
          <ac:chgData name="Patrick Kozyra" userId="b17d1bb0e40929be" providerId="LiveId" clId="{2EC8FC7B-E275-409F-8925-9A0AF9AB0558}" dt="2025-04-26T15:44:38.323" v="653" actId="20577"/>
          <ac:spMkLst>
            <pc:docMk/>
            <pc:sldMk cId="0" sldId="256"/>
            <ac:spMk id="31" creationId="{00000000-0000-0000-0000-000000000000}"/>
          </ac:spMkLst>
        </pc:spChg>
        <pc:spChg chg="mod">
          <ac:chgData name="Patrick Kozyra" userId="b17d1bb0e40929be" providerId="LiveId" clId="{2EC8FC7B-E275-409F-8925-9A0AF9AB0558}" dt="2025-04-26T15:32:43.134" v="253" actId="1076"/>
          <ac:spMkLst>
            <pc:docMk/>
            <pc:sldMk cId="0" sldId="256"/>
            <ac:spMk id="32" creationId="{00000000-0000-0000-0000-000000000000}"/>
          </ac:spMkLst>
        </pc:spChg>
        <pc:spChg chg="mod">
          <ac:chgData name="Patrick Kozyra" userId="b17d1bb0e40929be" providerId="LiveId" clId="{2EC8FC7B-E275-409F-8925-9A0AF9AB0558}" dt="2025-04-26T15:51:42.761" v="999" actId="20577"/>
          <ac:spMkLst>
            <pc:docMk/>
            <pc:sldMk cId="0" sldId="256"/>
            <ac:spMk id="33" creationId="{00000000-0000-0000-0000-000000000000}"/>
          </ac:spMkLst>
        </pc:spChg>
        <pc:spChg chg="mod">
          <ac:chgData name="Patrick Kozyra" userId="b17d1bb0e40929be" providerId="LiveId" clId="{2EC8FC7B-E275-409F-8925-9A0AF9AB0558}" dt="2025-04-26T15:36:38.886" v="370" actId="1076"/>
          <ac:spMkLst>
            <pc:docMk/>
            <pc:sldMk cId="0" sldId="256"/>
            <ac:spMk id="34" creationId="{00000000-0000-0000-0000-000000000000}"/>
          </ac:spMkLst>
        </pc:spChg>
        <pc:spChg chg="mod">
          <ac:chgData name="Patrick Kozyra" userId="b17d1bb0e40929be" providerId="LiveId" clId="{2EC8FC7B-E275-409F-8925-9A0AF9AB0558}" dt="2025-04-26T15:51:30.595" v="997" actId="20577"/>
          <ac:spMkLst>
            <pc:docMk/>
            <pc:sldMk cId="0" sldId="256"/>
            <ac:spMk id="35" creationId="{00000000-0000-0000-0000-000000000000}"/>
          </ac:spMkLst>
        </pc:spChg>
        <pc:spChg chg="del mod">
          <ac:chgData name="Patrick Kozyra" userId="b17d1bb0e40929be" providerId="LiveId" clId="{2EC8FC7B-E275-409F-8925-9A0AF9AB0558}" dt="2025-04-26T15:44:51.824" v="656" actId="21"/>
          <ac:spMkLst>
            <pc:docMk/>
            <pc:sldMk cId="0" sldId="256"/>
            <ac:spMk id="36" creationId="{00000000-0000-0000-0000-000000000000}"/>
          </ac:spMkLst>
        </pc:spChg>
        <pc:spChg chg="del mod">
          <ac:chgData name="Patrick Kozyra" userId="b17d1bb0e40929be" providerId="LiveId" clId="{2EC8FC7B-E275-409F-8925-9A0AF9AB0558}" dt="2025-04-26T15:44:51.824" v="656" actId="21"/>
          <ac:spMkLst>
            <pc:docMk/>
            <pc:sldMk cId="0" sldId="256"/>
            <ac:spMk id="37" creationId="{00000000-0000-0000-0000-000000000000}"/>
          </ac:spMkLst>
        </pc:spChg>
        <pc:spChg chg="mod">
          <ac:chgData name="Patrick Kozyra" userId="b17d1bb0e40929be" providerId="LiveId" clId="{2EC8FC7B-E275-409F-8925-9A0AF9AB0558}" dt="2025-04-26T15:44:03.515" v="640" actId="1076"/>
          <ac:spMkLst>
            <pc:docMk/>
            <pc:sldMk cId="0" sldId="256"/>
            <ac:spMk id="38" creationId="{00000000-0000-0000-0000-000000000000}"/>
          </ac:spMkLst>
        </pc:spChg>
        <pc:spChg chg="mod">
          <ac:chgData name="Patrick Kozyra" userId="b17d1bb0e40929be" providerId="LiveId" clId="{2EC8FC7B-E275-409F-8925-9A0AF9AB0558}" dt="2025-04-26T16:42:48.148" v="1214" actId="20577"/>
          <ac:spMkLst>
            <pc:docMk/>
            <pc:sldMk cId="0" sldId="256"/>
            <ac:spMk id="39" creationId="{00000000-0000-0000-0000-000000000000}"/>
          </ac:spMkLst>
        </pc:spChg>
        <pc:spChg chg="mod">
          <ac:chgData name="Patrick Kozyra" userId="b17d1bb0e40929be" providerId="LiveId" clId="{2EC8FC7B-E275-409F-8925-9A0AF9AB0558}" dt="2025-04-26T15:51:03.181" v="949" actId="20577"/>
          <ac:spMkLst>
            <pc:docMk/>
            <pc:sldMk cId="0" sldId="256"/>
            <ac:spMk id="40" creationId="{00000000-0000-0000-0000-000000000000}"/>
          </ac:spMkLst>
        </pc:spChg>
        <pc:spChg chg="mod">
          <ac:chgData name="Patrick Kozyra" userId="b17d1bb0e40929be" providerId="LiveId" clId="{2EC8FC7B-E275-409F-8925-9A0AF9AB0558}" dt="2025-04-26T16:40:49.834" v="1208" actId="20577"/>
          <ac:spMkLst>
            <pc:docMk/>
            <pc:sldMk cId="0" sldId="256"/>
            <ac:spMk id="41" creationId="{00000000-0000-0000-0000-000000000000}"/>
          </ac:spMkLst>
        </pc:spChg>
        <pc:spChg chg="mod">
          <ac:chgData name="Patrick Kozyra" userId="b17d1bb0e40929be" providerId="LiveId" clId="{2EC8FC7B-E275-409F-8925-9A0AF9AB0558}" dt="2025-04-26T16:21:10.264" v="1176" actId="20577"/>
          <ac:spMkLst>
            <pc:docMk/>
            <pc:sldMk cId="0" sldId="256"/>
            <ac:spMk id="42" creationId="{00000000-0000-0000-0000-000000000000}"/>
          </ac:spMkLst>
        </pc:spChg>
        <pc:spChg chg="mod">
          <ac:chgData name="Patrick Kozyra" userId="b17d1bb0e40929be" providerId="LiveId" clId="{2EC8FC7B-E275-409F-8925-9A0AF9AB0558}" dt="2025-04-26T16:20:44.727" v="1153" actId="20577"/>
          <ac:spMkLst>
            <pc:docMk/>
            <pc:sldMk cId="0" sldId="256"/>
            <ac:spMk id="43" creationId="{00000000-0000-0000-0000-000000000000}"/>
          </ac:spMkLst>
        </pc:spChg>
        <pc:spChg chg="add">
          <ac:chgData name="Patrick Kozyra" userId="b17d1bb0e40929be" providerId="LiveId" clId="{2EC8FC7B-E275-409F-8925-9A0AF9AB0558}" dt="2025-04-26T15:31:03.595" v="219"/>
          <ac:spMkLst>
            <pc:docMk/>
            <pc:sldMk cId="0" sldId="256"/>
            <ac:spMk id="44" creationId="{80D4321D-2568-8A44-7FBE-31B3FF22F9E8}"/>
          </ac:spMkLst>
        </pc:spChg>
        <pc:grpChg chg="mod">
          <ac:chgData name="Patrick Kozyra" userId="b17d1bb0e40929be" providerId="LiveId" clId="{2EC8FC7B-E275-409F-8925-9A0AF9AB0558}" dt="2025-04-26T15:44:45.957" v="655" actId="1076"/>
          <ac:grpSpMkLst>
            <pc:docMk/>
            <pc:sldMk cId="0" sldId="256"/>
            <ac:grpSpMk id="5" creationId="{00000000-0000-0000-0000-000000000000}"/>
          </ac:grpSpMkLst>
        </pc:grpChg>
      </pc:sldChg>
      <pc:sldChg chg="addSp modSp new add del">
        <pc:chgData name="Patrick Kozyra" userId="b17d1bb0e40929be" providerId="LiveId" clId="{2EC8FC7B-E275-409F-8925-9A0AF9AB0558}" dt="2025-04-27T02:57:16.672" v="1218" actId="47"/>
        <pc:sldMkLst>
          <pc:docMk/>
          <pc:sldMk cId="938822752" sldId="257"/>
        </pc:sldMkLst>
        <pc:spChg chg="add mod">
          <ac:chgData name="Patrick Kozyra" userId="b17d1bb0e40929be" providerId="LiveId" clId="{2EC8FC7B-E275-409F-8925-9A0AF9AB0558}" dt="2025-04-26T15:44:54.921" v="658"/>
          <ac:spMkLst>
            <pc:docMk/>
            <pc:sldMk cId="938822752" sldId="257"/>
            <ac:spMk id="36" creationId="{00000000-0000-0000-0000-000000000000}"/>
          </ac:spMkLst>
        </pc:spChg>
        <pc:spChg chg="add mod">
          <ac:chgData name="Patrick Kozyra" userId="b17d1bb0e40929be" providerId="LiveId" clId="{2EC8FC7B-E275-409F-8925-9A0AF9AB0558}" dt="2025-04-26T15:44:54.921" v="658"/>
          <ac:spMkLst>
            <pc:docMk/>
            <pc:sldMk cId="938822752" sldId="257"/>
            <ac:spMk id="37" creationId="{00000000-0000-0000-0000-000000000000}"/>
          </ac:spMkLst>
        </pc:spChg>
      </pc:sldChg>
      <pc:sldChg chg="modSp add del mod">
        <pc:chgData name="Patrick Kozyra" userId="b17d1bb0e40929be" providerId="LiveId" clId="{2EC8FC7B-E275-409F-8925-9A0AF9AB0558}" dt="2025-04-27T02:55:45.637" v="1216" actId="47"/>
        <pc:sldMkLst>
          <pc:docMk/>
          <pc:sldMk cId="1304126318" sldId="258"/>
        </pc:sldMkLst>
        <pc:spChg chg="mod">
          <ac:chgData name="Patrick Kozyra" userId="b17d1bb0e40929be" providerId="LiveId" clId="{2EC8FC7B-E275-409F-8925-9A0AF9AB0558}" dt="2025-04-26T16:42:44.328" v="1212" actId="20577"/>
          <ac:spMkLst>
            <pc:docMk/>
            <pc:sldMk cId="1304126318" sldId="258"/>
            <ac:spMk id="39" creationId="{A76D7339-F4CC-9C66-05FF-A1B6653889A7}"/>
          </ac:spMkLst>
        </pc:spChg>
        <pc:spChg chg="mod">
          <ac:chgData name="Patrick Kozyra" userId="b17d1bb0e40929be" providerId="LiveId" clId="{2EC8FC7B-E275-409F-8925-9A0AF9AB0558}" dt="2025-04-26T16:40:57.819" v="1210" actId="20577"/>
          <ac:spMkLst>
            <pc:docMk/>
            <pc:sldMk cId="1304126318" sldId="258"/>
            <ac:spMk id="41" creationId="{930032D7-CD96-090B-1731-33CA9CE5D76A}"/>
          </ac:spMkLst>
        </pc:spChg>
        <pc:spChg chg="mod">
          <ac:chgData name="Patrick Kozyra" userId="b17d1bb0e40929be" providerId="LiveId" clId="{2EC8FC7B-E275-409F-8925-9A0AF9AB0558}" dt="2025-04-26T16:21:40.878" v="1203" actId="14100"/>
          <ac:spMkLst>
            <pc:docMk/>
            <pc:sldMk cId="1304126318" sldId="258"/>
            <ac:spMk id="42" creationId="{F4DBC707-8781-CEF7-F184-724BCD1FA603}"/>
          </ac:spMkLst>
        </pc:spChg>
        <pc:spChg chg="mod">
          <ac:chgData name="Patrick Kozyra" userId="b17d1bb0e40929be" providerId="LiveId" clId="{2EC8FC7B-E275-409F-8925-9A0AF9AB0558}" dt="2025-04-26T16:39:52.218" v="1206" actId="1076"/>
          <ac:spMkLst>
            <pc:docMk/>
            <pc:sldMk cId="1304126318" sldId="258"/>
            <ac:spMk id="43" creationId="{B41C26E9-2AF5-A181-DE87-2C831AA3C61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4816593" cy="2709333"/>
          </a:xfrm>
        </p:grpSpPr>
        <p:sp>
          <p:nvSpPr>
            <p:cNvPr id="3" name="Freeform 3"/>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FFFFFF"/>
            </a:solidFill>
          </p:spPr>
          <p:txBody>
            <a:bodyPr/>
            <a:lstStyle/>
            <a:p>
              <a:endParaRPr lang="en-US"/>
            </a:p>
          </p:txBody>
        </p:sp>
        <p:sp>
          <p:nvSpPr>
            <p:cNvPr id="4" name="TextBox 4"/>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2382" y="229253"/>
            <a:ext cx="17832198" cy="9828495"/>
            <a:chOff x="0" y="0"/>
            <a:chExt cx="4696546" cy="2588575"/>
          </a:xfrm>
        </p:grpSpPr>
        <p:sp>
          <p:nvSpPr>
            <p:cNvPr id="6" name="Freeform 6"/>
            <p:cNvSpPr/>
            <p:nvPr/>
          </p:nvSpPr>
          <p:spPr>
            <a:xfrm>
              <a:off x="0" y="0"/>
              <a:ext cx="4696546" cy="2588575"/>
            </a:xfrm>
            <a:custGeom>
              <a:avLst/>
              <a:gdLst/>
              <a:ahLst/>
              <a:cxnLst/>
              <a:rect l="l" t="t" r="r" b="b"/>
              <a:pathLst>
                <a:path w="4696546" h="2588575">
                  <a:moveTo>
                    <a:pt x="22142" y="0"/>
                  </a:moveTo>
                  <a:lnTo>
                    <a:pt x="4674405" y="0"/>
                  </a:lnTo>
                  <a:cubicBezTo>
                    <a:pt x="4686633" y="0"/>
                    <a:pt x="4696546" y="9913"/>
                    <a:pt x="4696546" y="22142"/>
                  </a:cubicBezTo>
                  <a:lnTo>
                    <a:pt x="4696546" y="2566433"/>
                  </a:lnTo>
                  <a:cubicBezTo>
                    <a:pt x="4696546" y="2578662"/>
                    <a:pt x="4686633" y="2588575"/>
                    <a:pt x="4674405" y="2588575"/>
                  </a:cubicBezTo>
                  <a:lnTo>
                    <a:pt x="22142" y="2588575"/>
                  </a:lnTo>
                  <a:cubicBezTo>
                    <a:pt x="9913" y="2588575"/>
                    <a:pt x="0" y="2578662"/>
                    <a:pt x="0" y="2566433"/>
                  </a:cubicBezTo>
                  <a:lnTo>
                    <a:pt x="0" y="22142"/>
                  </a:lnTo>
                  <a:cubicBezTo>
                    <a:pt x="0" y="9913"/>
                    <a:pt x="9913" y="0"/>
                    <a:pt x="22142" y="0"/>
                  </a:cubicBezTo>
                  <a:close/>
                </a:path>
              </a:pathLst>
            </a:custGeom>
            <a:solidFill>
              <a:srgbClr val="004AAD"/>
            </a:solidFill>
          </p:spPr>
          <p:txBody>
            <a:bodyPr/>
            <a:lstStyle/>
            <a:p>
              <a:endParaRPr lang="en-US"/>
            </a:p>
          </p:txBody>
        </p:sp>
        <p:sp>
          <p:nvSpPr>
            <p:cNvPr id="7" name="TextBox 7"/>
            <p:cNvSpPr txBox="1"/>
            <p:nvPr/>
          </p:nvSpPr>
          <p:spPr>
            <a:xfrm>
              <a:off x="0" y="-38100"/>
              <a:ext cx="4696546" cy="2626675"/>
            </a:xfrm>
            <a:prstGeom prst="rect">
              <a:avLst/>
            </a:prstGeom>
          </p:spPr>
          <p:txBody>
            <a:bodyPr lIns="50800" tIns="50800" rIns="50800" bIns="50800" rtlCol="0" anchor="ctr"/>
            <a:lstStyle/>
            <a:p>
              <a:pPr algn="ctr">
                <a:lnSpc>
                  <a:spcPts val="2659"/>
                </a:lnSpc>
              </a:pPr>
              <a:endParaRPr/>
            </a:p>
          </p:txBody>
        </p:sp>
      </p:grpSp>
      <p:sp>
        <p:nvSpPr>
          <p:cNvPr id="8" name="AutoShape 8"/>
          <p:cNvSpPr/>
          <p:nvPr/>
        </p:nvSpPr>
        <p:spPr>
          <a:xfrm flipV="1">
            <a:off x="491607" y="2939409"/>
            <a:ext cx="17193749" cy="0"/>
          </a:xfrm>
          <a:prstGeom prst="line">
            <a:avLst/>
          </a:prstGeom>
          <a:ln w="76200" cap="flat">
            <a:solidFill>
              <a:srgbClr val="FFFFFF"/>
            </a:solidFill>
            <a:prstDash val="solid"/>
            <a:headEnd type="none" w="sm" len="sm"/>
            <a:tailEnd type="none" w="sm" len="sm"/>
          </a:ln>
        </p:spPr>
        <p:txBody>
          <a:bodyPr/>
          <a:lstStyle/>
          <a:p>
            <a:endParaRPr lang="en-US"/>
          </a:p>
        </p:txBody>
      </p:sp>
      <p:grpSp>
        <p:nvGrpSpPr>
          <p:cNvPr id="9" name="Group 9"/>
          <p:cNvGrpSpPr/>
          <p:nvPr/>
        </p:nvGrpSpPr>
        <p:grpSpPr>
          <a:xfrm>
            <a:off x="2528435" y="1600194"/>
            <a:ext cx="1306302" cy="1245069"/>
            <a:chOff x="0" y="0"/>
            <a:chExt cx="812800" cy="774700"/>
          </a:xfrm>
        </p:grpSpPr>
        <p:sp>
          <p:nvSpPr>
            <p:cNvPr id="10" name="Freeform 10"/>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DE59"/>
            </a:solidFill>
          </p:spPr>
          <p:txBody>
            <a:bodyPr/>
            <a:lstStyle/>
            <a:p>
              <a:endParaRPr lang="en-US"/>
            </a:p>
          </p:txBody>
        </p:sp>
        <p:sp>
          <p:nvSpPr>
            <p:cNvPr id="11" name="TextBox 11"/>
            <p:cNvSpPr txBox="1"/>
            <p:nvPr/>
          </p:nvSpPr>
          <p:spPr>
            <a:xfrm>
              <a:off x="228600" y="228600"/>
              <a:ext cx="355600" cy="381000"/>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517724" y="304806"/>
            <a:ext cx="19212410" cy="1295389"/>
          </a:xfrm>
          <a:prstGeom prst="rect">
            <a:avLst/>
          </a:prstGeom>
        </p:spPr>
        <p:txBody>
          <a:bodyPr lIns="0" tIns="0" rIns="0" bIns="0" rtlCol="0" anchor="t">
            <a:spAutoFit/>
          </a:bodyPr>
          <a:lstStyle/>
          <a:p>
            <a:pPr algn="ctr">
              <a:lnSpc>
                <a:spcPts val="10500"/>
              </a:lnSpc>
            </a:pPr>
            <a:r>
              <a:rPr lang="en-US" sz="7500">
                <a:solidFill>
                  <a:srgbClr val="FFFFFF"/>
                </a:solidFill>
                <a:latin typeface="Anton"/>
                <a:ea typeface="Anton"/>
                <a:cs typeface="Anton"/>
                <a:sym typeface="Anton"/>
              </a:rPr>
              <a:t>NO MORE DUBIOUS VIDEOGAME OWNERSHIP RIGHTS</a:t>
            </a:r>
          </a:p>
        </p:txBody>
      </p:sp>
      <p:sp>
        <p:nvSpPr>
          <p:cNvPr id="13" name="TextBox 13"/>
          <p:cNvSpPr txBox="1"/>
          <p:nvPr/>
        </p:nvSpPr>
        <p:spPr>
          <a:xfrm>
            <a:off x="3425174" y="1430261"/>
            <a:ext cx="10984581" cy="1380955"/>
          </a:xfrm>
          <a:prstGeom prst="rect">
            <a:avLst/>
          </a:prstGeom>
        </p:spPr>
        <p:txBody>
          <a:bodyPr wrap="square" lIns="0" tIns="0" rIns="0" bIns="0" rtlCol="0" anchor="t">
            <a:spAutoFit/>
          </a:bodyPr>
          <a:lstStyle/>
          <a:p>
            <a:pPr algn="ctr">
              <a:lnSpc>
                <a:spcPts val="5460"/>
              </a:lnSpc>
            </a:pPr>
            <a:r>
              <a:rPr lang="en-US" sz="3900" dirty="0">
                <a:solidFill>
                  <a:srgbClr val="FFFFFF"/>
                </a:solidFill>
                <a:latin typeface="DM Serif Display"/>
                <a:ea typeface="DM Serif Display"/>
                <a:cs typeface="DM Serif Display"/>
                <a:sym typeface="DM Serif Display"/>
              </a:rPr>
              <a:t>Let's save what we rightfully own from the void!</a:t>
            </a:r>
          </a:p>
          <a:p>
            <a:pPr algn="ctr">
              <a:lnSpc>
                <a:spcPts val="5460"/>
              </a:lnSpc>
            </a:pPr>
            <a:r>
              <a:rPr lang="en-US" sz="3900" dirty="0">
                <a:solidFill>
                  <a:srgbClr val="FFFFFF"/>
                </a:solidFill>
                <a:latin typeface="DM Serif Display"/>
                <a:ea typeface="DM Serif Display"/>
                <a:cs typeface="DM Serif Display"/>
                <a:sym typeface="DM Serif Display"/>
              </a:rPr>
              <a:t>People from the EU, sign the Initiative!</a:t>
            </a:r>
          </a:p>
        </p:txBody>
      </p:sp>
      <p:grpSp>
        <p:nvGrpSpPr>
          <p:cNvPr id="14" name="Group 14"/>
          <p:cNvGrpSpPr/>
          <p:nvPr/>
        </p:nvGrpSpPr>
        <p:grpSpPr>
          <a:xfrm>
            <a:off x="1306302" y="1600194"/>
            <a:ext cx="1306302" cy="1245069"/>
            <a:chOff x="0" y="0"/>
            <a:chExt cx="812800" cy="774700"/>
          </a:xfrm>
        </p:grpSpPr>
        <p:sp>
          <p:nvSpPr>
            <p:cNvPr id="15" name="Freeform 15"/>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DE59"/>
            </a:solidFill>
          </p:spPr>
          <p:txBody>
            <a:bodyPr/>
            <a:lstStyle/>
            <a:p>
              <a:endParaRPr lang="en-US"/>
            </a:p>
          </p:txBody>
        </p:sp>
        <p:sp>
          <p:nvSpPr>
            <p:cNvPr id="16" name="TextBox 16"/>
            <p:cNvSpPr txBox="1"/>
            <p:nvPr/>
          </p:nvSpPr>
          <p:spPr>
            <a:xfrm>
              <a:off x="228600" y="228600"/>
              <a:ext cx="355600" cy="3810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72382" y="1600194"/>
            <a:ext cx="1306302" cy="1245069"/>
            <a:chOff x="0" y="0"/>
            <a:chExt cx="812800" cy="774700"/>
          </a:xfrm>
        </p:grpSpPr>
        <p:sp>
          <p:nvSpPr>
            <p:cNvPr id="18" name="Freeform 18"/>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DE59"/>
            </a:solidFill>
          </p:spPr>
          <p:txBody>
            <a:bodyPr/>
            <a:lstStyle/>
            <a:p>
              <a:endParaRPr lang="en-US"/>
            </a:p>
          </p:txBody>
        </p:sp>
        <p:sp>
          <p:nvSpPr>
            <p:cNvPr id="19" name="TextBox 19"/>
            <p:cNvSpPr txBox="1"/>
            <p:nvPr/>
          </p:nvSpPr>
          <p:spPr>
            <a:xfrm>
              <a:off x="228600" y="228600"/>
              <a:ext cx="355600" cy="38100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4364986" y="1627665"/>
            <a:ext cx="1306302" cy="1245069"/>
            <a:chOff x="0" y="0"/>
            <a:chExt cx="812800" cy="774700"/>
          </a:xfrm>
        </p:grpSpPr>
        <p:sp>
          <p:nvSpPr>
            <p:cNvPr id="21" name="Freeform 21"/>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DE59"/>
            </a:solidFill>
          </p:spPr>
          <p:txBody>
            <a:bodyPr/>
            <a:lstStyle/>
            <a:p>
              <a:endParaRPr lang="en-US"/>
            </a:p>
          </p:txBody>
        </p:sp>
        <p:sp>
          <p:nvSpPr>
            <p:cNvPr id="22" name="TextBox 22"/>
            <p:cNvSpPr txBox="1"/>
            <p:nvPr/>
          </p:nvSpPr>
          <p:spPr>
            <a:xfrm>
              <a:off x="228600" y="228600"/>
              <a:ext cx="355600" cy="381000"/>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15499838" y="1627665"/>
            <a:ext cx="1306302" cy="1245069"/>
            <a:chOff x="0" y="0"/>
            <a:chExt cx="812800" cy="774700"/>
          </a:xfrm>
        </p:grpSpPr>
        <p:sp>
          <p:nvSpPr>
            <p:cNvPr id="24" name="Freeform 24"/>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DE59"/>
            </a:solidFill>
          </p:spPr>
          <p:txBody>
            <a:bodyPr/>
            <a:lstStyle/>
            <a:p>
              <a:endParaRPr lang="en-US"/>
            </a:p>
          </p:txBody>
        </p:sp>
        <p:sp>
          <p:nvSpPr>
            <p:cNvPr id="25" name="TextBox 25"/>
            <p:cNvSpPr txBox="1"/>
            <p:nvPr/>
          </p:nvSpPr>
          <p:spPr>
            <a:xfrm>
              <a:off x="228600" y="228600"/>
              <a:ext cx="355600" cy="381000"/>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16698279" y="1627665"/>
            <a:ext cx="1306302" cy="1245069"/>
            <a:chOff x="0" y="0"/>
            <a:chExt cx="812800" cy="774700"/>
          </a:xfrm>
        </p:grpSpPr>
        <p:sp>
          <p:nvSpPr>
            <p:cNvPr id="27" name="Freeform 27"/>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DE59"/>
            </a:solidFill>
          </p:spPr>
          <p:txBody>
            <a:bodyPr/>
            <a:lstStyle/>
            <a:p>
              <a:endParaRPr lang="en-US"/>
            </a:p>
          </p:txBody>
        </p:sp>
        <p:sp>
          <p:nvSpPr>
            <p:cNvPr id="28" name="TextBox 28"/>
            <p:cNvSpPr txBox="1"/>
            <p:nvPr/>
          </p:nvSpPr>
          <p:spPr>
            <a:xfrm>
              <a:off x="228600" y="228600"/>
              <a:ext cx="355600" cy="381000"/>
            </a:xfrm>
            <a:prstGeom prst="rect">
              <a:avLst/>
            </a:prstGeom>
          </p:spPr>
          <p:txBody>
            <a:bodyPr lIns="50800" tIns="50800" rIns="50800" bIns="50800" rtlCol="0" anchor="ctr"/>
            <a:lstStyle/>
            <a:p>
              <a:pPr algn="ctr">
                <a:lnSpc>
                  <a:spcPts val="2659"/>
                </a:lnSpc>
              </a:pPr>
              <a:endParaRPr/>
            </a:p>
          </p:txBody>
        </p:sp>
      </p:grpSp>
      <p:sp>
        <p:nvSpPr>
          <p:cNvPr id="29" name="Freeform 29"/>
          <p:cNvSpPr/>
          <p:nvPr/>
        </p:nvSpPr>
        <p:spPr>
          <a:xfrm>
            <a:off x="8025396" y="4410557"/>
            <a:ext cx="2851290" cy="2851290"/>
          </a:xfrm>
          <a:custGeom>
            <a:avLst/>
            <a:gdLst/>
            <a:ahLst/>
            <a:cxnLst/>
            <a:rect l="l" t="t" r="r" b="b"/>
            <a:pathLst>
              <a:path w="2851290" h="2851290">
                <a:moveTo>
                  <a:pt x="0" y="0"/>
                </a:moveTo>
                <a:lnTo>
                  <a:pt x="2851290" y="0"/>
                </a:lnTo>
                <a:lnTo>
                  <a:pt x="2851290" y="2851290"/>
                </a:lnTo>
                <a:lnTo>
                  <a:pt x="0" y="2851290"/>
                </a:lnTo>
                <a:lnTo>
                  <a:pt x="0" y="0"/>
                </a:lnTo>
                <a:close/>
              </a:path>
            </a:pathLst>
          </a:custGeom>
          <a:blipFill>
            <a:blip r:embed="rId2"/>
            <a:stretch>
              <a:fillRect/>
            </a:stretch>
          </a:blipFill>
        </p:spPr>
        <p:txBody>
          <a:bodyPr/>
          <a:lstStyle/>
          <a:p>
            <a:endParaRPr lang="en-US"/>
          </a:p>
        </p:txBody>
      </p:sp>
      <p:sp>
        <p:nvSpPr>
          <p:cNvPr id="30" name="TextBox 30"/>
          <p:cNvSpPr txBox="1"/>
          <p:nvPr/>
        </p:nvSpPr>
        <p:spPr>
          <a:xfrm>
            <a:off x="1050538" y="2977509"/>
            <a:ext cx="5816329" cy="521334"/>
          </a:xfrm>
          <a:prstGeom prst="rect">
            <a:avLst/>
          </a:prstGeom>
        </p:spPr>
        <p:txBody>
          <a:bodyPr lIns="0" tIns="0" rIns="0" bIns="0" rtlCol="0" anchor="t">
            <a:spAutoFit/>
          </a:bodyPr>
          <a:lstStyle/>
          <a:p>
            <a:pPr algn="ctr">
              <a:lnSpc>
                <a:spcPts val="4340"/>
              </a:lnSpc>
            </a:pPr>
            <a:r>
              <a:rPr lang="en-US" sz="3100" b="1" dirty="0">
                <a:solidFill>
                  <a:srgbClr val="FFDE59"/>
                </a:solidFill>
                <a:latin typeface="Merriweather Bold"/>
                <a:ea typeface="Merriweather Bold"/>
                <a:cs typeface="Merriweather Bold"/>
                <a:sym typeface="Merriweather Bold"/>
              </a:rPr>
              <a:t>1. What is this about?</a:t>
            </a:r>
          </a:p>
        </p:txBody>
      </p:sp>
      <p:sp>
        <p:nvSpPr>
          <p:cNvPr id="31" name="TextBox 31"/>
          <p:cNvSpPr txBox="1"/>
          <p:nvPr/>
        </p:nvSpPr>
        <p:spPr>
          <a:xfrm>
            <a:off x="98964" y="3406933"/>
            <a:ext cx="8057222" cy="1772408"/>
          </a:xfrm>
          <a:prstGeom prst="rect">
            <a:avLst/>
          </a:prstGeom>
        </p:spPr>
        <p:txBody>
          <a:bodyPr wrap="square" lIns="0" tIns="0" rIns="0" bIns="0" rtlCol="0" anchor="t">
            <a:spAutoFit/>
          </a:bodyPr>
          <a:lstStyle/>
          <a:p>
            <a:pPr algn="ctr">
              <a:lnSpc>
                <a:spcPts val="2800"/>
              </a:lnSpc>
            </a:pPr>
            <a:r>
              <a:rPr lang="en-US" sz="2000" b="1" dirty="0">
                <a:solidFill>
                  <a:srgbClr val="FFFFFF"/>
                </a:solidFill>
                <a:latin typeface="Merriweather Bold"/>
                <a:ea typeface="Merriweather Bold"/>
                <a:cs typeface="Merriweather Bold"/>
                <a:sym typeface="Merriweather Bold"/>
              </a:rPr>
              <a:t>This European Citizens’ Initiative (officially called 'Stop Destroying </a:t>
            </a:r>
            <a:r>
              <a:rPr lang="en-US" sz="2000" b="1" dirty="0" err="1">
                <a:solidFill>
                  <a:srgbClr val="FFFFFF"/>
                </a:solidFill>
                <a:latin typeface="Merriweather Bold"/>
                <a:ea typeface="Merriweather Bold"/>
                <a:cs typeface="Merriweather Bold"/>
                <a:sym typeface="Merriweather Bold"/>
              </a:rPr>
              <a:t>Videogames'</a:t>
            </a:r>
            <a:r>
              <a:rPr lang="en-US" sz="2000" b="1" dirty="0">
                <a:solidFill>
                  <a:srgbClr val="FFFFFF"/>
                </a:solidFill>
                <a:latin typeface="Merriweather Bold"/>
                <a:ea typeface="Merriweather Bold"/>
                <a:cs typeface="Merriweather Bold"/>
                <a:sym typeface="Merriweather Bold"/>
              </a:rPr>
              <a:t>) advocates for games that are shut down, or no longer supported to be left in a playable state for customers. Either via an end-of-life plan, repair instructions whatever method is most flexible to game publishers.</a:t>
            </a:r>
          </a:p>
        </p:txBody>
      </p:sp>
      <p:sp>
        <p:nvSpPr>
          <p:cNvPr id="32" name="TextBox 32"/>
          <p:cNvSpPr txBox="1"/>
          <p:nvPr/>
        </p:nvSpPr>
        <p:spPr>
          <a:xfrm>
            <a:off x="1911204" y="5065778"/>
            <a:ext cx="3945919" cy="517193"/>
          </a:xfrm>
          <a:prstGeom prst="rect">
            <a:avLst/>
          </a:prstGeom>
        </p:spPr>
        <p:txBody>
          <a:bodyPr wrap="square" lIns="0" tIns="0" rIns="0" bIns="0" rtlCol="0" anchor="t">
            <a:spAutoFit/>
          </a:bodyPr>
          <a:lstStyle/>
          <a:p>
            <a:pPr algn="ctr">
              <a:lnSpc>
                <a:spcPts val="4340"/>
              </a:lnSpc>
            </a:pPr>
            <a:r>
              <a:rPr lang="en-US" sz="3100" b="1" dirty="0">
                <a:solidFill>
                  <a:srgbClr val="FFDE59"/>
                </a:solidFill>
                <a:latin typeface="Merriweather Bold"/>
                <a:ea typeface="Merriweather Bold"/>
                <a:cs typeface="Merriweather Bold"/>
                <a:sym typeface="Merriweather Bold"/>
              </a:rPr>
              <a:t>2. Is this legit?</a:t>
            </a:r>
          </a:p>
        </p:txBody>
      </p:sp>
      <p:sp>
        <p:nvSpPr>
          <p:cNvPr id="33" name="TextBox 33"/>
          <p:cNvSpPr txBox="1"/>
          <p:nvPr/>
        </p:nvSpPr>
        <p:spPr>
          <a:xfrm>
            <a:off x="404287" y="5537984"/>
            <a:ext cx="7533789" cy="1758948"/>
          </a:xfrm>
          <a:prstGeom prst="rect">
            <a:avLst/>
          </a:prstGeom>
        </p:spPr>
        <p:txBody>
          <a:bodyPr lIns="0" tIns="0" rIns="0" bIns="0" rtlCol="0" anchor="t">
            <a:spAutoFit/>
          </a:bodyPr>
          <a:lstStyle/>
          <a:p>
            <a:pPr algn="ctr">
              <a:lnSpc>
                <a:spcPts val="2800"/>
              </a:lnSpc>
            </a:pPr>
            <a:r>
              <a:rPr lang="en-US" sz="2000" b="1" dirty="0">
                <a:solidFill>
                  <a:srgbClr val="FFFFFF"/>
                </a:solidFill>
                <a:latin typeface="Merriweather Bold"/>
                <a:ea typeface="Merriweather Bold"/>
                <a:cs typeface="Merriweather Bold"/>
                <a:sym typeface="Merriweather Bold"/>
              </a:rPr>
              <a:t>Yes — this is an official EU Initiative, hosted on the European Union’s own platform (URLs ending in europa.eu). It’s not just a random online petition. This Initiative is backed by real organizers from seven EU countries and has been formally approved. </a:t>
            </a:r>
          </a:p>
        </p:txBody>
      </p:sp>
      <p:sp>
        <p:nvSpPr>
          <p:cNvPr id="34" name="TextBox 34"/>
          <p:cNvSpPr txBox="1"/>
          <p:nvPr/>
        </p:nvSpPr>
        <p:spPr>
          <a:xfrm>
            <a:off x="2160121" y="7275803"/>
            <a:ext cx="4022119" cy="530859"/>
          </a:xfrm>
          <a:prstGeom prst="rect">
            <a:avLst/>
          </a:prstGeom>
        </p:spPr>
        <p:txBody>
          <a:bodyPr wrap="square" lIns="0" tIns="0" rIns="0" bIns="0" rtlCol="0" anchor="t">
            <a:spAutoFit/>
          </a:bodyPr>
          <a:lstStyle/>
          <a:p>
            <a:pPr algn="ctr">
              <a:lnSpc>
                <a:spcPts val="4340"/>
              </a:lnSpc>
            </a:pPr>
            <a:r>
              <a:rPr lang="en-US" sz="3100" b="1" dirty="0">
                <a:solidFill>
                  <a:srgbClr val="FFDE59"/>
                </a:solidFill>
                <a:latin typeface="Merriweather Bold"/>
                <a:ea typeface="Merriweather Bold"/>
                <a:cs typeface="Merriweather Bold"/>
                <a:sym typeface="Merriweather Bold"/>
              </a:rPr>
              <a:t>3. How do I sign?</a:t>
            </a:r>
          </a:p>
        </p:txBody>
      </p:sp>
      <p:sp>
        <p:nvSpPr>
          <p:cNvPr id="35" name="TextBox 35"/>
          <p:cNvSpPr txBox="1"/>
          <p:nvPr/>
        </p:nvSpPr>
        <p:spPr>
          <a:xfrm>
            <a:off x="491607" y="7735556"/>
            <a:ext cx="7890393" cy="2131481"/>
          </a:xfrm>
          <a:prstGeom prst="rect">
            <a:avLst/>
          </a:prstGeom>
        </p:spPr>
        <p:txBody>
          <a:bodyPr wrap="square" lIns="0" tIns="0" rIns="0" bIns="0" rtlCol="0" anchor="t">
            <a:spAutoFit/>
          </a:bodyPr>
          <a:lstStyle/>
          <a:p>
            <a:pPr algn="ctr">
              <a:lnSpc>
                <a:spcPts val="2800"/>
              </a:lnSpc>
            </a:pPr>
            <a:r>
              <a:rPr lang="en-US" sz="2000" b="1" dirty="0">
                <a:solidFill>
                  <a:srgbClr val="FFFFFF"/>
                </a:solidFill>
                <a:latin typeface="Merriweather Bold"/>
                <a:ea typeface="Merriweather Bold"/>
                <a:cs typeface="Merriweather Bold"/>
                <a:sym typeface="Merriweather Bold"/>
              </a:rPr>
              <a:t>Scan the QR code on this image or search for 'Stop Destroying </a:t>
            </a:r>
            <a:r>
              <a:rPr lang="en-US" sz="2000" b="1" dirty="0" err="1">
                <a:solidFill>
                  <a:srgbClr val="FFFFFF"/>
                </a:solidFill>
                <a:latin typeface="Merriweather Bold"/>
                <a:ea typeface="Merriweather Bold"/>
                <a:cs typeface="Merriweather Bold"/>
                <a:sym typeface="Merriweather Bold"/>
              </a:rPr>
              <a:t>Videogames'</a:t>
            </a:r>
            <a:r>
              <a:rPr lang="en-US" sz="2000" b="1" dirty="0">
                <a:solidFill>
                  <a:srgbClr val="FFFFFF"/>
                </a:solidFill>
                <a:latin typeface="Merriweather Bold"/>
                <a:ea typeface="Merriweather Bold"/>
                <a:cs typeface="Merriweather Bold"/>
                <a:sym typeface="Merriweather Bold"/>
              </a:rPr>
              <a:t> on the European Citizens' Initiative website. Click on the yellow button where it says 'Support this initiative' and then choose your EU country of nationality, then go through the verification process. Only citizens of EU countries can sign this Initiative (regardless of residency).</a:t>
            </a:r>
          </a:p>
        </p:txBody>
      </p:sp>
      <p:sp>
        <p:nvSpPr>
          <p:cNvPr id="38" name="TextBox 38"/>
          <p:cNvSpPr txBox="1"/>
          <p:nvPr/>
        </p:nvSpPr>
        <p:spPr>
          <a:xfrm>
            <a:off x="10673778" y="2974788"/>
            <a:ext cx="7404220" cy="843244"/>
          </a:xfrm>
          <a:prstGeom prst="rect">
            <a:avLst/>
          </a:prstGeom>
        </p:spPr>
        <p:txBody>
          <a:bodyPr lIns="0" tIns="0" rIns="0" bIns="0" rtlCol="0" anchor="t">
            <a:spAutoFit/>
          </a:bodyPr>
          <a:lstStyle/>
          <a:p>
            <a:pPr algn="ctr">
              <a:lnSpc>
                <a:spcPts val="3360"/>
              </a:lnSpc>
            </a:pPr>
            <a:r>
              <a:rPr lang="en-US" sz="2400" b="1" dirty="0">
                <a:solidFill>
                  <a:srgbClr val="FFDE59"/>
                </a:solidFill>
                <a:latin typeface="Merriweather Bold"/>
                <a:ea typeface="Merriweather Bold"/>
                <a:cs typeface="Merriweather Bold"/>
                <a:sym typeface="Merriweather Bold"/>
              </a:rPr>
              <a:t>4. If this is implemented, won’t several publishers leave the EU market?</a:t>
            </a:r>
          </a:p>
        </p:txBody>
      </p:sp>
      <p:sp>
        <p:nvSpPr>
          <p:cNvPr id="39" name="TextBox 39"/>
          <p:cNvSpPr txBox="1"/>
          <p:nvPr/>
        </p:nvSpPr>
        <p:spPr>
          <a:xfrm>
            <a:off x="10600361" y="7678406"/>
            <a:ext cx="7404220" cy="405763"/>
          </a:xfrm>
          <a:prstGeom prst="rect">
            <a:avLst/>
          </a:prstGeom>
        </p:spPr>
        <p:txBody>
          <a:bodyPr lIns="0" tIns="0" rIns="0" bIns="0" rtlCol="0" anchor="t">
            <a:spAutoFit/>
          </a:bodyPr>
          <a:lstStyle/>
          <a:p>
            <a:pPr algn="ctr">
              <a:lnSpc>
                <a:spcPts val="3360"/>
              </a:lnSpc>
            </a:pPr>
            <a:r>
              <a:rPr lang="en-US" sz="2400" b="1" dirty="0">
                <a:solidFill>
                  <a:srgbClr val="FFDE59"/>
                </a:solidFill>
                <a:latin typeface="Merriweather Bold"/>
                <a:ea typeface="Merriweather Bold"/>
                <a:cs typeface="Merriweather Bold"/>
                <a:sym typeface="Merriweather Bold"/>
              </a:rPr>
              <a:t>5. I'm not from the EU, why should I care?</a:t>
            </a:r>
          </a:p>
        </p:txBody>
      </p:sp>
      <p:sp>
        <p:nvSpPr>
          <p:cNvPr id="40" name="TextBox 40"/>
          <p:cNvSpPr txBox="1"/>
          <p:nvPr/>
        </p:nvSpPr>
        <p:spPr>
          <a:xfrm>
            <a:off x="10964006" y="3780602"/>
            <a:ext cx="7040574" cy="3926844"/>
          </a:xfrm>
          <a:prstGeom prst="rect">
            <a:avLst/>
          </a:prstGeom>
        </p:spPr>
        <p:txBody>
          <a:bodyPr wrap="square" lIns="0" tIns="0" rIns="0" bIns="0" rtlCol="0" anchor="t">
            <a:spAutoFit/>
          </a:bodyPr>
          <a:lstStyle/>
          <a:p>
            <a:pPr algn="ctr">
              <a:lnSpc>
                <a:spcPts val="2800"/>
              </a:lnSpc>
            </a:pPr>
            <a:r>
              <a:rPr lang="en-US" sz="2000" b="1" dirty="0">
                <a:solidFill>
                  <a:srgbClr val="FFFFFF"/>
                </a:solidFill>
                <a:latin typeface="Merriweather Bold"/>
                <a:ea typeface="Merriweather Bold"/>
                <a:cs typeface="Merriweather Bold"/>
                <a:sym typeface="Merriweather Bold"/>
              </a:rPr>
              <a:t>This is a bluff from the industry. No one wants to lose out on a market of 450 million+ people because they refused to provide an end-of-life plan or repair instructions (especially from the design phase onwards for future games). </a:t>
            </a:r>
            <a:br>
              <a:rPr lang="en-US" sz="2000" b="1" dirty="0">
                <a:solidFill>
                  <a:srgbClr val="FFFFFF"/>
                </a:solidFill>
                <a:latin typeface="Merriweather Bold"/>
                <a:ea typeface="Merriweather Bold"/>
                <a:cs typeface="Merriweather Bold"/>
                <a:sym typeface="Merriweather Bold"/>
              </a:rPr>
            </a:br>
            <a:r>
              <a:rPr lang="en-US" sz="2000" b="1" dirty="0">
                <a:solidFill>
                  <a:srgbClr val="FFFFFF"/>
                </a:solidFill>
                <a:latin typeface="Merriweather Bold"/>
                <a:ea typeface="Merriweather Bold"/>
                <a:cs typeface="Merriweather Bold"/>
                <a:sym typeface="Merriweather Bold"/>
              </a:rPr>
              <a:t>Regardless, the effect of these changes will not be immediate. The </a:t>
            </a:r>
            <a:r>
              <a:rPr lang="en-US" sz="2000" b="1" dirty="0" err="1">
                <a:solidFill>
                  <a:srgbClr val="FFFFFF"/>
                </a:solidFill>
                <a:latin typeface="Merriweather Bold"/>
                <a:ea typeface="Merriweather Bold"/>
                <a:cs typeface="Merriweather Bold"/>
                <a:sym typeface="Merriweather Bold"/>
              </a:rPr>
              <a:t>organisers</a:t>
            </a:r>
            <a:r>
              <a:rPr lang="en-US" sz="2000" b="1" dirty="0">
                <a:solidFill>
                  <a:srgbClr val="FFFFFF"/>
                </a:solidFill>
                <a:latin typeface="Merriweather Bold"/>
                <a:ea typeface="Merriweather Bold"/>
                <a:cs typeface="Merriweather Bold"/>
                <a:sym typeface="Merriweather Bold"/>
              </a:rPr>
              <a:t> and the Commission will surely give ample time for publishers to implement the changes necessary to comply with the new rules. Remember, this applies to the *end* of a game's life, not its beginning or present state.</a:t>
            </a:r>
          </a:p>
        </p:txBody>
      </p:sp>
      <p:sp>
        <p:nvSpPr>
          <p:cNvPr id="41" name="TextBox 41"/>
          <p:cNvSpPr txBox="1"/>
          <p:nvPr/>
        </p:nvSpPr>
        <p:spPr>
          <a:xfrm>
            <a:off x="10262605" y="8094000"/>
            <a:ext cx="7533788" cy="1910267"/>
          </a:xfrm>
          <a:prstGeom prst="rect">
            <a:avLst/>
          </a:prstGeom>
        </p:spPr>
        <p:txBody>
          <a:bodyPr wrap="square" lIns="0" tIns="0" rIns="0" bIns="0" rtlCol="0" anchor="t">
            <a:spAutoFit/>
          </a:bodyPr>
          <a:lstStyle/>
          <a:p>
            <a:pPr algn="ctr">
              <a:lnSpc>
                <a:spcPts val="2520"/>
              </a:lnSpc>
            </a:pPr>
            <a:r>
              <a:rPr lang="en-US" sz="2000" b="1" dirty="0">
                <a:solidFill>
                  <a:srgbClr val="FFFFFF"/>
                </a:solidFill>
                <a:latin typeface="Merriweather Bold"/>
                <a:ea typeface="Merriweather Bold"/>
                <a:cs typeface="Merriweather Bold"/>
                <a:sym typeface="Merriweather Bold"/>
              </a:rPr>
              <a:t>While these proposed changes do not affect you directly, it's not impossible that it may later down the line. Just like the enforcement of USB-C type charging ports for iPhones in the EU and subsequently the rest of the world, this too can have a snowball effect (the Brussels Effect). This change can benefit you too! So please, spread the word!</a:t>
            </a:r>
          </a:p>
        </p:txBody>
      </p:sp>
      <p:sp>
        <p:nvSpPr>
          <p:cNvPr id="42" name="TextBox 42"/>
          <p:cNvSpPr txBox="1"/>
          <p:nvPr/>
        </p:nvSpPr>
        <p:spPr>
          <a:xfrm>
            <a:off x="8130396" y="3006085"/>
            <a:ext cx="2851289" cy="1464440"/>
          </a:xfrm>
          <a:prstGeom prst="rect">
            <a:avLst/>
          </a:prstGeom>
        </p:spPr>
        <p:txBody>
          <a:bodyPr wrap="square" lIns="0" tIns="0" rIns="0" bIns="0" rtlCol="0" anchor="t">
            <a:spAutoFit/>
          </a:bodyPr>
          <a:lstStyle/>
          <a:p>
            <a:pPr algn="ctr">
              <a:lnSpc>
                <a:spcPts val="5880"/>
              </a:lnSpc>
            </a:pPr>
            <a:r>
              <a:rPr lang="en-US" sz="4200" b="1" dirty="0">
                <a:solidFill>
                  <a:srgbClr val="FFFFFF"/>
                </a:solidFill>
                <a:latin typeface="Merriweather Bold"/>
                <a:ea typeface="Merriweather Bold"/>
                <a:cs typeface="Merriweather Bold"/>
                <a:sym typeface="Merriweather Bold"/>
              </a:rPr>
              <a:t>Don’t Let the Lights</a:t>
            </a:r>
          </a:p>
        </p:txBody>
      </p:sp>
      <p:sp>
        <p:nvSpPr>
          <p:cNvPr id="43" name="TextBox 43"/>
          <p:cNvSpPr txBox="1"/>
          <p:nvPr/>
        </p:nvSpPr>
        <p:spPr>
          <a:xfrm>
            <a:off x="7788020" y="7248508"/>
            <a:ext cx="3326042" cy="707822"/>
          </a:xfrm>
          <a:prstGeom prst="rect">
            <a:avLst/>
          </a:prstGeom>
        </p:spPr>
        <p:txBody>
          <a:bodyPr wrap="square" lIns="0" tIns="0" rIns="0" bIns="0" rtlCol="0" anchor="t">
            <a:spAutoFit/>
          </a:bodyPr>
          <a:lstStyle/>
          <a:p>
            <a:pPr algn="ctr">
              <a:lnSpc>
                <a:spcPts val="5880"/>
              </a:lnSpc>
            </a:pPr>
            <a:r>
              <a:rPr lang="en-US" sz="4200" b="1" dirty="0">
                <a:solidFill>
                  <a:srgbClr val="FFFFFF"/>
                </a:solidFill>
                <a:latin typeface="Merriweather Bold"/>
                <a:ea typeface="Merriweather Bold"/>
                <a:cs typeface="Merriweather Bold"/>
                <a:sym typeface="Merriweather Bold"/>
              </a:rPr>
              <a:t>Go Out!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5BAB9-5985-8BAB-2FEC-53FE8972203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61D6EF3-5B7B-0FB7-8F6F-50F546D97AA1}"/>
              </a:ext>
            </a:extLst>
          </p:cNvPr>
          <p:cNvGrpSpPr/>
          <p:nvPr/>
        </p:nvGrpSpPr>
        <p:grpSpPr>
          <a:xfrm>
            <a:off x="0" y="0"/>
            <a:ext cx="18288000" cy="10287000"/>
            <a:chOff x="0" y="0"/>
            <a:chExt cx="4816593" cy="2709333"/>
          </a:xfrm>
        </p:grpSpPr>
        <p:sp>
          <p:nvSpPr>
            <p:cNvPr id="3" name="Freeform 3">
              <a:extLst>
                <a:ext uri="{FF2B5EF4-FFF2-40B4-BE49-F238E27FC236}">
                  <a16:creationId xmlns:a16="http://schemas.microsoft.com/office/drawing/2014/main" id="{61509320-4C61-30D6-2EFA-B7F5C2A1CF83}"/>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FFFFFF"/>
            </a:solidFill>
          </p:spPr>
          <p:txBody>
            <a:bodyPr/>
            <a:lstStyle/>
            <a:p>
              <a:endParaRPr lang="en-US"/>
            </a:p>
          </p:txBody>
        </p:sp>
        <p:sp>
          <p:nvSpPr>
            <p:cNvPr id="4" name="TextBox 4">
              <a:extLst>
                <a:ext uri="{FF2B5EF4-FFF2-40B4-BE49-F238E27FC236}">
                  <a16:creationId xmlns:a16="http://schemas.microsoft.com/office/drawing/2014/main" id="{A9AD27B8-F16D-0AE4-5412-C1297B060B72}"/>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D6C738B2-5F01-9C44-66E9-35117965FD5A}"/>
              </a:ext>
            </a:extLst>
          </p:cNvPr>
          <p:cNvGrpSpPr/>
          <p:nvPr/>
        </p:nvGrpSpPr>
        <p:grpSpPr>
          <a:xfrm>
            <a:off x="172382" y="229253"/>
            <a:ext cx="17832198" cy="9828495"/>
            <a:chOff x="0" y="0"/>
            <a:chExt cx="4696546" cy="2588575"/>
          </a:xfrm>
        </p:grpSpPr>
        <p:sp>
          <p:nvSpPr>
            <p:cNvPr id="6" name="Freeform 6">
              <a:extLst>
                <a:ext uri="{FF2B5EF4-FFF2-40B4-BE49-F238E27FC236}">
                  <a16:creationId xmlns:a16="http://schemas.microsoft.com/office/drawing/2014/main" id="{21E33568-5DB5-491B-0A71-1A9C5052E942}"/>
                </a:ext>
              </a:extLst>
            </p:cNvPr>
            <p:cNvSpPr/>
            <p:nvPr/>
          </p:nvSpPr>
          <p:spPr>
            <a:xfrm>
              <a:off x="0" y="0"/>
              <a:ext cx="4696546" cy="2588575"/>
            </a:xfrm>
            <a:custGeom>
              <a:avLst/>
              <a:gdLst/>
              <a:ahLst/>
              <a:cxnLst/>
              <a:rect l="l" t="t" r="r" b="b"/>
              <a:pathLst>
                <a:path w="4696546" h="2588575">
                  <a:moveTo>
                    <a:pt x="22142" y="0"/>
                  </a:moveTo>
                  <a:lnTo>
                    <a:pt x="4674405" y="0"/>
                  </a:lnTo>
                  <a:cubicBezTo>
                    <a:pt x="4686633" y="0"/>
                    <a:pt x="4696546" y="9913"/>
                    <a:pt x="4696546" y="22142"/>
                  </a:cubicBezTo>
                  <a:lnTo>
                    <a:pt x="4696546" y="2566433"/>
                  </a:lnTo>
                  <a:cubicBezTo>
                    <a:pt x="4696546" y="2578662"/>
                    <a:pt x="4686633" y="2588575"/>
                    <a:pt x="4674405" y="2588575"/>
                  </a:cubicBezTo>
                  <a:lnTo>
                    <a:pt x="22142" y="2588575"/>
                  </a:lnTo>
                  <a:cubicBezTo>
                    <a:pt x="9913" y="2588575"/>
                    <a:pt x="0" y="2578662"/>
                    <a:pt x="0" y="2566433"/>
                  </a:cubicBezTo>
                  <a:lnTo>
                    <a:pt x="0" y="22142"/>
                  </a:lnTo>
                  <a:cubicBezTo>
                    <a:pt x="0" y="9913"/>
                    <a:pt x="9913" y="0"/>
                    <a:pt x="22142" y="0"/>
                  </a:cubicBezTo>
                  <a:close/>
                </a:path>
              </a:pathLst>
            </a:custGeom>
            <a:solidFill>
              <a:srgbClr val="004AAD"/>
            </a:solidFill>
          </p:spPr>
          <p:txBody>
            <a:bodyPr/>
            <a:lstStyle/>
            <a:p>
              <a:endParaRPr lang="en-US"/>
            </a:p>
          </p:txBody>
        </p:sp>
        <p:sp>
          <p:nvSpPr>
            <p:cNvPr id="7" name="TextBox 7">
              <a:extLst>
                <a:ext uri="{FF2B5EF4-FFF2-40B4-BE49-F238E27FC236}">
                  <a16:creationId xmlns:a16="http://schemas.microsoft.com/office/drawing/2014/main" id="{F798A41F-8E94-4CAB-F51F-CBA8C6B55FBC}"/>
                </a:ext>
              </a:extLst>
            </p:cNvPr>
            <p:cNvSpPr txBox="1"/>
            <p:nvPr/>
          </p:nvSpPr>
          <p:spPr>
            <a:xfrm>
              <a:off x="0" y="-38100"/>
              <a:ext cx="4696546" cy="2626675"/>
            </a:xfrm>
            <a:prstGeom prst="rect">
              <a:avLst/>
            </a:prstGeom>
          </p:spPr>
          <p:txBody>
            <a:bodyPr lIns="50800" tIns="50800" rIns="50800" bIns="50800" rtlCol="0" anchor="ctr"/>
            <a:lstStyle/>
            <a:p>
              <a:pPr algn="ctr">
                <a:lnSpc>
                  <a:spcPts val="2659"/>
                </a:lnSpc>
              </a:pPr>
              <a:endParaRPr/>
            </a:p>
          </p:txBody>
        </p:sp>
      </p:grpSp>
      <p:sp>
        <p:nvSpPr>
          <p:cNvPr id="8" name="AutoShape 8">
            <a:extLst>
              <a:ext uri="{FF2B5EF4-FFF2-40B4-BE49-F238E27FC236}">
                <a16:creationId xmlns:a16="http://schemas.microsoft.com/office/drawing/2014/main" id="{23FA24AB-A7D2-B8A5-A97E-FC3688CC71B5}"/>
              </a:ext>
            </a:extLst>
          </p:cNvPr>
          <p:cNvSpPr/>
          <p:nvPr/>
        </p:nvSpPr>
        <p:spPr>
          <a:xfrm flipV="1">
            <a:off x="491607" y="2939409"/>
            <a:ext cx="17193749" cy="0"/>
          </a:xfrm>
          <a:prstGeom prst="line">
            <a:avLst/>
          </a:prstGeom>
          <a:ln w="76200" cap="flat">
            <a:solidFill>
              <a:srgbClr val="FFFFFF"/>
            </a:solidFill>
            <a:prstDash val="solid"/>
            <a:headEnd type="none" w="sm" len="sm"/>
            <a:tailEnd type="none" w="sm" len="sm"/>
          </a:ln>
        </p:spPr>
        <p:txBody>
          <a:bodyPr/>
          <a:lstStyle/>
          <a:p>
            <a:endParaRPr lang="en-US"/>
          </a:p>
        </p:txBody>
      </p:sp>
      <p:grpSp>
        <p:nvGrpSpPr>
          <p:cNvPr id="9" name="Group 9">
            <a:extLst>
              <a:ext uri="{FF2B5EF4-FFF2-40B4-BE49-F238E27FC236}">
                <a16:creationId xmlns:a16="http://schemas.microsoft.com/office/drawing/2014/main" id="{20143A0E-7618-5F4A-5FDD-CAACBE7CFE13}"/>
              </a:ext>
            </a:extLst>
          </p:cNvPr>
          <p:cNvGrpSpPr/>
          <p:nvPr/>
        </p:nvGrpSpPr>
        <p:grpSpPr>
          <a:xfrm>
            <a:off x="2528435" y="1600194"/>
            <a:ext cx="1306302" cy="1245069"/>
            <a:chOff x="0" y="0"/>
            <a:chExt cx="812800" cy="774700"/>
          </a:xfrm>
        </p:grpSpPr>
        <p:sp>
          <p:nvSpPr>
            <p:cNvPr id="10" name="Freeform 10">
              <a:extLst>
                <a:ext uri="{FF2B5EF4-FFF2-40B4-BE49-F238E27FC236}">
                  <a16:creationId xmlns:a16="http://schemas.microsoft.com/office/drawing/2014/main" id="{71101572-CF70-346B-36EB-C7ACB38C3CCE}"/>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DE59"/>
            </a:solidFill>
          </p:spPr>
          <p:txBody>
            <a:bodyPr/>
            <a:lstStyle/>
            <a:p>
              <a:endParaRPr lang="en-US"/>
            </a:p>
          </p:txBody>
        </p:sp>
        <p:sp>
          <p:nvSpPr>
            <p:cNvPr id="11" name="TextBox 11">
              <a:extLst>
                <a:ext uri="{FF2B5EF4-FFF2-40B4-BE49-F238E27FC236}">
                  <a16:creationId xmlns:a16="http://schemas.microsoft.com/office/drawing/2014/main" id="{3C80C3C3-7387-EB9D-1C1F-C8918E42137D}"/>
                </a:ext>
              </a:extLst>
            </p:cNvPr>
            <p:cNvSpPr txBox="1"/>
            <p:nvPr/>
          </p:nvSpPr>
          <p:spPr>
            <a:xfrm>
              <a:off x="228600" y="228600"/>
              <a:ext cx="355600" cy="381000"/>
            </a:xfrm>
            <a:prstGeom prst="rect">
              <a:avLst/>
            </a:prstGeom>
          </p:spPr>
          <p:txBody>
            <a:bodyPr lIns="50800" tIns="50800" rIns="50800" bIns="50800" rtlCol="0" anchor="ctr"/>
            <a:lstStyle/>
            <a:p>
              <a:pPr algn="ctr">
                <a:lnSpc>
                  <a:spcPts val="2659"/>
                </a:lnSpc>
              </a:pPr>
              <a:endParaRPr/>
            </a:p>
          </p:txBody>
        </p:sp>
      </p:grpSp>
      <p:sp>
        <p:nvSpPr>
          <p:cNvPr id="12" name="TextBox 12">
            <a:extLst>
              <a:ext uri="{FF2B5EF4-FFF2-40B4-BE49-F238E27FC236}">
                <a16:creationId xmlns:a16="http://schemas.microsoft.com/office/drawing/2014/main" id="{33290165-EDB9-0C45-02EF-10B27AE715D7}"/>
              </a:ext>
            </a:extLst>
          </p:cNvPr>
          <p:cNvSpPr txBox="1"/>
          <p:nvPr/>
        </p:nvSpPr>
        <p:spPr>
          <a:xfrm>
            <a:off x="-517724" y="304806"/>
            <a:ext cx="19212410" cy="1295389"/>
          </a:xfrm>
          <a:prstGeom prst="rect">
            <a:avLst/>
          </a:prstGeom>
        </p:spPr>
        <p:txBody>
          <a:bodyPr lIns="0" tIns="0" rIns="0" bIns="0" rtlCol="0" anchor="t">
            <a:spAutoFit/>
          </a:bodyPr>
          <a:lstStyle/>
          <a:p>
            <a:pPr algn="ctr">
              <a:lnSpc>
                <a:spcPts val="10500"/>
              </a:lnSpc>
            </a:pPr>
            <a:r>
              <a:rPr lang="en-US" sz="7500" dirty="0">
                <a:solidFill>
                  <a:srgbClr val="FFFFFF"/>
                </a:solidFill>
                <a:latin typeface="Anton"/>
                <a:ea typeface="Anton"/>
                <a:cs typeface="Anton"/>
                <a:sym typeface="Anton"/>
              </a:rPr>
              <a:t>NO MORE DUBIOUS VIDEOGAME OWNERSHIP RIGHTS</a:t>
            </a:r>
          </a:p>
        </p:txBody>
      </p:sp>
      <p:sp>
        <p:nvSpPr>
          <p:cNvPr id="13" name="TextBox 13">
            <a:extLst>
              <a:ext uri="{FF2B5EF4-FFF2-40B4-BE49-F238E27FC236}">
                <a16:creationId xmlns:a16="http://schemas.microsoft.com/office/drawing/2014/main" id="{CCE9E845-6A0D-AFBF-170F-71C628998CEA}"/>
              </a:ext>
            </a:extLst>
          </p:cNvPr>
          <p:cNvSpPr txBox="1"/>
          <p:nvPr/>
        </p:nvSpPr>
        <p:spPr>
          <a:xfrm>
            <a:off x="3425174" y="1430261"/>
            <a:ext cx="10984581" cy="1380955"/>
          </a:xfrm>
          <a:prstGeom prst="rect">
            <a:avLst/>
          </a:prstGeom>
        </p:spPr>
        <p:txBody>
          <a:bodyPr wrap="square" lIns="0" tIns="0" rIns="0" bIns="0" rtlCol="0" anchor="t">
            <a:spAutoFit/>
          </a:bodyPr>
          <a:lstStyle/>
          <a:p>
            <a:pPr algn="ctr">
              <a:lnSpc>
                <a:spcPts val="5460"/>
              </a:lnSpc>
            </a:pPr>
            <a:r>
              <a:rPr lang="en-US" sz="3900" dirty="0">
                <a:solidFill>
                  <a:srgbClr val="FFFFFF"/>
                </a:solidFill>
                <a:latin typeface="DM Serif Display"/>
                <a:ea typeface="DM Serif Display"/>
                <a:cs typeface="DM Serif Display"/>
                <a:sym typeface="DM Serif Display"/>
              </a:rPr>
              <a:t>Let's save what we rightfully own from the void!</a:t>
            </a:r>
          </a:p>
          <a:p>
            <a:pPr algn="ctr">
              <a:lnSpc>
                <a:spcPts val="5460"/>
              </a:lnSpc>
            </a:pPr>
            <a:r>
              <a:rPr lang="en-US" sz="3900" dirty="0">
                <a:solidFill>
                  <a:srgbClr val="FFFFFF"/>
                </a:solidFill>
                <a:latin typeface="DM Serif Display"/>
                <a:ea typeface="DM Serif Display"/>
                <a:cs typeface="DM Serif Display"/>
                <a:sym typeface="DM Serif Display"/>
              </a:rPr>
              <a:t>People from the EU, sign the Initiative!</a:t>
            </a:r>
          </a:p>
        </p:txBody>
      </p:sp>
      <p:grpSp>
        <p:nvGrpSpPr>
          <p:cNvPr id="14" name="Group 14">
            <a:extLst>
              <a:ext uri="{FF2B5EF4-FFF2-40B4-BE49-F238E27FC236}">
                <a16:creationId xmlns:a16="http://schemas.microsoft.com/office/drawing/2014/main" id="{0A9191D7-756E-7080-29C8-A82AAF99A507}"/>
              </a:ext>
            </a:extLst>
          </p:cNvPr>
          <p:cNvGrpSpPr/>
          <p:nvPr/>
        </p:nvGrpSpPr>
        <p:grpSpPr>
          <a:xfrm>
            <a:off x="1306302" y="1600194"/>
            <a:ext cx="1306302" cy="1245069"/>
            <a:chOff x="0" y="0"/>
            <a:chExt cx="812800" cy="774700"/>
          </a:xfrm>
        </p:grpSpPr>
        <p:sp>
          <p:nvSpPr>
            <p:cNvPr id="15" name="Freeform 15">
              <a:extLst>
                <a:ext uri="{FF2B5EF4-FFF2-40B4-BE49-F238E27FC236}">
                  <a16:creationId xmlns:a16="http://schemas.microsoft.com/office/drawing/2014/main" id="{FD9EEC17-DC86-D0B3-B317-400DF9EBAFDF}"/>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DE59"/>
            </a:solidFill>
          </p:spPr>
          <p:txBody>
            <a:bodyPr/>
            <a:lstStyle/>
            <a:p>
              <a:endParaRPr lang="en-US"/>
            </a:p>
          </p:txBody>
        </p:sp>
        <p:sp>
          <p:nvSpPr>
            <p:cNvPr id="16" name="TextBox 16">
              <a:extLst>
                <a:ext uri="{FF2B5EF4-FFF2-40B4-BE49-F238E27FC236}">
                  <a16:creationId xmlns:a16="http://schemas.microsoft.com/office/drawing/2014/main" id="{62E1AB0F-485D-6F44-A75C-39CC1D991761}"/>
                </a:ext>
              </a:extLst>
            </p:cNvPr>
            <p:cNvSpPr txBox="1"/>
            <p:nvPr/>
          </p:nvSpPr>
          <p:spPr>
            <a:xfrm>
              <a:off x="228600" y="228600"/>
              <a:ext cx="355600" cy="381000"/>
            </a:xfrm>
            <a:prstGeom prst="rect">
              <a:avLst/>
            </a:prstGeom>
          </p:spPr>
          <p:txBody>
            <a:bodyPr lIns="50800" tIns="50800" rIns="50800" bIns="50800" rtlCol="0" anchor="ctr"/>
            <a:lstStyle/>
            <a:p>
              <a:pPr algn="ctr">
                <a:lnSpc>
                  <a:spcPts val="2659"/>
                </a:lnSpc>
              </a:pPr>
              <a:endParaRPr/>
            </a:p>
          </p:txBody>
        </p:sp>
      </p:grpSp>
      <p:grpSp>
        <p:nvGrpSpPr>
          <p:cNvPr id="17" name="Group 17">
            <a:extLst>
              <a:ext uri="{FF2B5EF4-FFF2-40B4-BE49-F238E27FC236}">
                <a16:creationId xmlns:a16="http://schemas.microsoft.com/office/drawing/2014/main" id="{D5E32C53-5E99-9C12-267D-06638C096393}"/>
              </a:ext>
            </a:extLst>
          </p:cNvPr>
          <p:cNvGrpSpPr/>
          <p:nvPr/>
        </p:nvGrpSpPr>
        <p:grpSpPr>
          <a:xfrm>
            <a:off x="172382" y="1600194"/>
            <a:ext cx="1306302" cy="1245069"/>
            <a:chOff x="0" y="0"/>
            <a:chExt cx="812800" cy="774700"/>
          </a:xfrm>
        </p:grpSpPr>
        <p:sp>
          <p:nvSpPr>
            <p:cNvPr id="18" name="Freeform 18">
              <a:extLst>
                <a:ext uri="{FF2B5EF4-FFF2-40B4-BE49-F238E27FC236}">
                  <a16:creationId xmlns:a16="http://schemas.microsoft.com/office/drawing/2014/main" id="{5D6AA63D-4EF7-BCA3-567E-A367DE2F9E18}"/>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DE59"/>
            </a:solidFill>
          </p:spPr>
          <p:txBody>
            <a:bodyPr/>
            <a:lstStyle/>
            <a:p>
              <a:endParaRPr lang="en-US"/>
            </a:p>
          </p:txBody>
        </p:sp>
        <p:sp>
          <p:nvSpPr>
            <p:cNvPr id="19" name="TextBox 19">
              <a:extLst>
                <a:ext uri="{FF2B5EF4-FFF2-40B4-BE49-F238E27FC236}">
                  <a16:creationId xmlns:a16="http://schemas.microsoft.com/office/drawing/2014/main" id="{1261C004-A678-13E1-79F4-3788708D6F58}"/>
                </a:ext>
              </a:extLst>
            </p:cNvPr>
            <p:cNvSpPr txBox="1"/>
            <p:nvPr/>
          </p:nvSpPr>
          <p:spPr>
            <a:xfrm>
              <a:off x="228600" y="228600"/>
              <a:ext cx="355600" cy="381000"/>
            </a:xfrm>
            <a:prstGeom prst="rect">
              <a:avLst/>
            </a:prstGeom>
          </p:spPr>
          <p:txBody>
            <a:bodyPr lIns="50800" tIns="50800" rIns="50800" bIns="50800" rtlCol="0" anchor="ctr"/>
            <a:lstStyle/>
            <a:p>
              <a:pPr algn="ctr">
                <a:lnSpc>
                  <a:spcPts val="2659"/>
                </a:lnSpc>
              </a:pPr>
              <a:endParaRPr/>
            </a:p>
          </p:txBody>
        </p:sp>
      </p:grpSp>
      <p:grpSp>
        <p:nvGrpSpPr>
          <p:cNvPr id="20" name="Group 20">
            <a:extLst>
              <a:ext uri="{FF2B5EF4-FFF2-40B4-BE49-F238E27FC236}">
                <a16:creationId xmlns:a16="http://schemas.microsoft.com/office/drawing/2014/main" id="{CE697DE9-08D4-0EFE-4213-9A5F770B2DF0}"/>
              </a:ext>
            </a:extLst>
          </p:cNvPr>
          <p:cNvGrpSpPr/>
          <p:nvPr/>
        </p:nvGrpSpPr>
        <p:grpSpPr>
          <a:xfrm>
            <a:off x="14364986" y="1627665"/>
            <a:ext cx="1306302" cy="1245069"/>
            <a:chOff x="0" y="0"/>
            <a:chExt cx="812800" cy="774700"/>
          </a:xfrm>
        </p:grpSpPr>
        <p:sp>
          <p:nvSpPr>
            <p:cNvPr id="21" name="Freeform 21">
              <a:extLst>
                <a:ext uri="{FF2B5EF4-FFF2-40B4-BE49-F238E27FC236}">
                  <a16:creationId xmlns:a16="http://schemas.microsoft.com/office/drawing/2014/main" id="{4D38DE38-0271-C411-6363-F6E03991C9E9}"/>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DE59"/>
            </a:solidFill>
          </p:spPr>
          <p:txBody>
            <a:bodyPr/>
            <a:lstStyle/>
            <a:p>
              <a:endParaRPr lang="en-US"/>
            </a:p>
          </p:txBody>
        </p:sp>
        <p:sp>
          <p:nvSpPr>
            <p:cNvPr id="22" name="TextBox 22">
              <a:extLst>
                <a:ext uri="{FF2B5EF4-FFF2-40B4-BE49-F238E27FC236}">
                  <a16:creationId xmlns:a16="http://schemas.microsoft.com/office/drawing/2014/main" id="{8D166A5C-9D60-2273-6E55-F7C855CFAF30}"/>
                </a:ext>
              </a:extLst>
            </p:cNvPr>
            <p:cNvSpPr txBox="1"/>
            <p:nvPr/>
          </p:nvSpPr>
          <p:spPr>
            <a:xfrm>
              <a:off x="228600" y="228600"/>
              <a:ext cx="355600" cy="381000"/>
            </a:xfrm>
            <a:prstGeom prst="rect">
              <a:avLst/>
            </a:prstGeom>
          </p:spPr>
          <p:txBody>
            <a:bodyPr lIns="50800" tIns="50800" rIns="50800" bIns="50800" rtlCol="0" anchor="ctr"/>
            <a:lstStyle/>
            <a:p>
              <a:pPr algn="ctr">
                <a:lnSpc>
                  <a:spcPts val="2659"/>
                </a:lnSpc>
              </a:pPr>
              <a:endParaRPr/>
            </a:p>
          </p:txBody>
        </p:sp>
      </p:grpSp>
      <p:grpSp>
        <p:nvGrpSpPr>
          <p:cNvPr id="23" name="Group 23">
            <a:extLst>
              <a:ext uri="{FF2B5EF4-FFF2-40B4-BE49-F238E27FC236}">
                <a16:creationId xmlns:a16="http://schemas.microsoft.com/office/drawing/2014/main" id="{AF46A06B-38A2-2671-ED3F-2CB2A40022AA}"/>
              </a:ext>
            </a:extLst>
          </p:cNvPr>
          <p:cNvGrpSpPr/>
          <p:nvPr/>
        </p:nvGrpSpPr>
        <p:grpSpPr>
          <a:xfrm>
            <a:off x="15499838" y="1627665"/>
            <a:ext cx="1306302" cy="1245069"/>
            <a:chOff x="0" y="0"/>
            <a:chExt cx="812800" cy="774700"/>
          </a:xfrm>
        </p:grpSpPr>
        <p:sp>
          <p:nvSpPr>
            <p:cNvPr id="24" name="Freeform 24">
              <a:extLst>
                <a:ext uri="{FF2B5EF4-FFF2-40B4-BE49-F238E27FC236}">
                  <a16:creationId xmlns:a16="http://schemas.microsoft.com/office/drawing/2014/main" id="{F9A907D7-7BC1-47E5-8A27-B1D241DF6CDC}"/>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DE59"/>
            </a:solidFill>
          </p:spPr>
          <p:txBody>
            <a:bodyPr/>
            <a:lstStyle/>
            <a:p>
              <a:endParaRPr lang="en-US"/>
            </a:p>
          </p:txBody>
        </p:sp>
        <p:sp>
          <p:nvSpPr>
            <p:cNvPr id="25" name="TextBox 25">
              <a:extLst>
                <a:ext uri="{FF2B5EF4-FFF2-40B4-BE49-F238E27FC236}">
                  <a16:creationId xmlns:a16="http://schemas.microsoft.com/office/drawing/2014/main" id="{1E07281F-74D2-90E1-7AED-C1711F467BB4}"/>
                </a:ext>
              </a:extLst>
            </p:cNvPr>
            <p:cNvSpPr txBox="1"/>
            <p:nvPr/>
          </p:nvSpPr>
          <p:spPr>
            <a:xfrm>
              <a:off x="228600" y="228600"/>
              <a:ext cx="355600" cy="381000"/>
            </a:xfrm>
            <a:prstGeom prst="rect">
              <a:avLst/>
            </a:prstGeom>
          </p:spPr>
          <p:txBody>
            <a:bodyPr lIns="50800" tIns="50800" rIns="50800" bIns="50800" rtlCol="0" anchor="ctr"/>
            <a:lstStyle/>
            <a:p>
              <a:pPr algn="ctr">
                <a:lnSpc>
                  <a:spcPts val="2659"/>
                </a:lnSpc>
              </a:pPr>
              <a:endParaRPr/>
            </a:p>
          </p:txBody>
        </p:sp>
      </p:grpSp>
      <p:grpSp>
        <p:nvGrpSpPr>
          <p:cNvPr id="26" name="Group 26">
            <a:extLst>
              <a:ext uri="{FF2B5EF4-FFF2-40B4-BE49-F238E27FC236}">
                <a16:creationId xmlns:a16="http://schemas.microsoft.com/office/drawing/2014/main" id="{C8570178-FACB-59BA-069B-D12FBC7C7B1F}"/>
              </a:ext>
            </a:extLst>
          </p:cNvPr>
          <p:cNvGrpSpPr/>
          <p:nvPr/>
        </p:nvGrpSpPr>
        <p:grpSpPr>
          <a:xfrm>
            <a:off x="16698279" y="1627665"/>
            <a:ext cx="1306302" cy="1245069"/>
            <a:chOff x="0" y="0"/>
            <a:chExt cx="812800" cy="774700"/>
          </a:xfrm>
        </p:grpSpPr>
        <p:sp>
          <p:nvSpPr>
            <p:cNvPr id="27" name="Freeform 27">
              <a:extLst>
                <a:ext uri="{FF2B5EF4-FFF2-40B4-BE49-F238E27FC236}">
                  <a16:creationId xmlns:a16="http://schemas.microsoft.com/office/drawing/2014/main" id="{9653B734-7226-BD58-85D7-23F48B5C6357}"/>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DE59"/>
            </a:solidFill>
          </p:spPr>
          <p:txBody>
            <a:bodyPr/>
            <a:lstStyle/>
            <a:p>
              <a:endParaRPr lang="en-US"/>
            </a:p>
          </p:txBody>
        </p:sp>
        <p:sp>
          <p:nvSpPr>
            <p:cNvPr id="28" name="TextBox 28">
              <a:extLst>
                <a:ext uri="{FF2B5EF4-FFF2-40B4-BE49-F238E27FC236}">
                  <a16:creationId xmlns:a16="http://schemas.microsoft.com/office/drawing/2014/main" id="{E10B96EB-64E3-76F6-5A22-85ED20BD23EA}"/>
                </a:ext>
              </a:extLst>
            </p:cNvPr>
            <p:cNvSpPr txBox="1"/>
            <p:nvPr/>
          </p:nvSpPr>
          <p:spPr>
            <a:xfrm>
              <a:off x="228600" y="228600"/>
              <a:ext cx="355600" cy="381000"/>
            </a:xfrm>
            <a:prstGeom prst="rect">
              <a:avLst/>
            </a:prstGeom>
          </p:spPr>
          <p:txBody>
            <a:bodyPr lIns="50800" tIns="50800" rIns="50800" bIns="50800" rtlCol="0" anchor="ctr"/>
            <a:lstStyle/>
            <a:p>
              <a:pPr algn="ctr">
                <a:lnSpc>
                  <a:spcPts val="2659"/>
                </a:lnSpc>
              </a:pPr>
              <a:endParaRPr/>
            </a:p>
          </p:txBody>
        </p:sp>
      </p:grpSp>
      <p:sp>
        <p:nvSpPr>
          <p:cNvPr id="29" name="Freeform 29">
            <a:extLst>
              <a:ext uri="{FF2B5EF4-FFF2-40B4-BE49-F238E27FC236}">
                <a16:creationId xmlns:a16="http://schemas.microsoft.com/office/drawing/2014/main" id="{2DDD055C-B17A-52AC-CB99-7F66FCA5573D}"/>
              </a:ext>
            </a:extLst>
          </p:cNvPr>
          <p:cNvSpPr/>
          <p:nvPr/>
        </p:nvSpPr>
        <p:spPr>
          <a:xfrm>
            <a:off x="8025396" y="4410557"/>
            <a:ext cx="2851290" cy="2851290"/>
          </a:xfrm>
          <a:custGeom>
            <a:avLst/>
            <a:gdLst/>
            <a:ahLst/>
            <a:cxnLst/>
            <a:rect l="l" t="t" r="r" b="b"/>
            <a:pathLst>
              <a:path w="2851290" h="2851290">
                <a:moveTo>
                  <a:pt x="0" y="0"/>
                </a:moveTo>
                <a:lnTo>
                  <a:pt x="2851290" y="0"/>
                </a:lnTo>
                <a:lnTo>
                  <a:pt x="2851290" y="2851290"/>
                </a:lnTo>
                <a:lnTo>
                  <a:pt x="0" y="2851290"/>
                </a:lnTo>
                <a:lnTo>
                  <a:pt x="0" y="0"/>
                </a:lnTo>
                <a:close/>
              </a:path>
            </a:pathLst>
          </a:custGeom>
          <a:blipFill>
            <a:blip r:embed="rId2"/>
            <a:stretch>
              <a:fillRect/>
            </a:stretch>
          </a:blipFill>
        </p:spPr>
        <p:txBody>
          <a:bodyPr/>
          <a:lstStyle/>
          <a:p>
            <a:endParaRPr lang="en-US"/>
          </a:p>
        </p:txBody>
      </p:sp>
      <p:sp>
        <p:nvSpPr>
          <p:cNvPr id="30" name="TextBox 30">
            <a:extLst>
              <a:ext uri="{FF2B5EF4-FFF2-40B4-BE49-F238E27FC236}">
                <a16:creationId xmlns:a16="http://schemas.microsoft.com/office/drawing/2014/main" id="{9A7947C5-60C8-A33F-831B-445AE0810922}"/>
              </a:ext>
            </a:extLst>
          </p:cNvPr>
          <p:cNvSpPr txBox="1"/>
          <p:nvPr/>
        </p:nvSpPr>
        <p:spPr>
          <a:xfrm>
            <a:off x="1050538" y="2977509"/>
            <a:ext cx="5816329" cy="521334"/>
          </a:xfrm>
          <a:prstGeom prst="rect">
            <a:avLst/>
          </a:prstGeom>
        </p:spPr>
        <p:txBody>
          <a:bodyPr lIns="0" tIns="0" rIns="0" bIns="0" rtlCol="0" anchor="t">
            <a:spAutoFit/>
          </a:bodyPr>
          <a:lstStyle/>
          <a:p>
            <a:pPr algn="ctr">
              <a:lnSpc>
                <a:spcPts val="4340"/>
              </a:lnSpc>
            </a:pPr>
            <a:r>
              <a:rPr lang="en-US" sz="3100" b="1" dirty="0">
                <a:solidFill>
                  <a:srgbClr val="FFDE59"/>
                </a:solidFill>
                <a:latin typeface="Merriweather Bold"/>
                <a:ea typeface="Merriweather Bold"/>
                <a:cs typeface="Merriweather Bold"/>
                <a:sym typeface="Merriweather Bold"/>
              </a:rPr>
              <a:t>1. What is this about?</a:t>
            </a:r>
          </a:p>
        </p:txBody>
      </p:sp>
      <p:sp>
        <p:nvSpPr>
          <p:cNvPr id="31" name="TextBox 31">
            <a:extLst>
              <a:ext uri="{FF2B5EF4-FFF2-40B4-BE49-F238E27FC236}">
                <a16:creationId xmlns:a16="http://schemas.microsoft.com/office/drawing/2014/main" id="{A94B3E0D-C2BB-C85C-914C-FC779FBE305B}"/>
              </a:ext>
            </a:extLst>
          </p:cNvPr>
          <p:cNvSpPr txBox="1"/>
          <p:nvPr/>
        </p:nvSpPr>
        <p:spPr>
          <a:xfrm>
            <a:off x="98964" y="3406933"/>
            <a:ext cx="8057222" cy="1772408"/>
          </a:xfrm>
          <a:prstGeom prst="rect">
            <a:avLst/>
          </a:prstGeom>
        </p:spPr>
        <p:txBody>
          <a:bodyPr wrap="square" lIns="0" tIns="0" rIns="0" bIns="0" rtlCol="0" anchor="t">
            <a:spAutoFit/>
          </a:bodyPr>
          <a:lstStyle/>
          <a:p>
            <a:pPr algn="ctr">
              <a:lnSpc>
                <a:spcPts val="2800"/>
              </a:lnSpc>
            </a:pPr>
            <a:r>
              <a:rPr lang="en-US" sz="2000" b="1" dirty="0">
                <a:solidFill>
                  <a:srgbClr val="FFFFFF"/>
                </a:solidFill>
                <a:latin typeface="Merriweather Bold"/>
                <a:ea typeface="Merriweather Bold"/>
                <a:cs typeface="Merriweather Bold"/>
                <a:sym typeface="Merriweather Bold"/>
              </a:rPr>
              <a:t>This European Citizens’ Initiative (officially called 'Stop Destroying </a:t>
            </a:r>
            <a:r>
              <a:rPr lang="en-US" sz="2000" b="1" dirty="0" err="1">
                <a:solidFill>
                  <a:srgbClr val="FFFFFF"/>
                </a:solidFill>
                <a:latin typeface="Merriweather Bold"/>
                <a:ea typeface="Merriweather Bold"/>
                <a:cs typeface="Merriweather Bold"/>
                <a:sym typeface="Merriweather Bold"/>
              </a:rPr>
              <a:t>Videogames'</a:t>
            </a:r>
            <a:r>
              <a:rPr lang="en-US" sz="2000" b="1" dirty="0">
                <a:solidFill>
                  <a:srgbClr val="FFFFFF"/>
                </a:solidFill>
                <a:latin typeface="Merriweather Bold"/>
                <a:ea typeface="Merriweather Bold"/>
                <a:cs typeface="Merriweather Bold"/>
                <a:sym typeface="Merriweather Bold"/>
              </a:rPr>
              <a:t>) advocates for games that are shut down, or no longer supported to be left in a playable state for customers. Either via an end-of-life plan, repair instructions whatever method is most flexible to game publishers.</a:t>
            </a:r>
          </a:p>
        </p:txBody>
      </p:sp>
      <p:sp>
        <p:nvSpPr>
          <p:cNvPr id="32" name="TextBox 32">
            <a:extLst>
              <a:ext uri="{FF2B5EF4-FFF2-40B4-BE49-F238E27FC236}">
                <a16:creationId xmlns:a16="http://schemas.microsoft.com/office/drawing/2014/main" id="{A91EDBB0-3ED2-BF6B-33B5-03E1835FCEAE}"/>
              </a:ext>
            </a:extLst>
          </p:cNvPr>
          <p:cNvSpPr txBox="1"/>
          <p:nvPr/>
        </p:nvSpPr>
        <p:spPr>
          <a:xfrm>
            <a:off x="1911204" y="5065778"/>
            <a:ext cx="3945919" cy="517193"/>
          </a:xfrm>
          <a:prstGeom prst="rect">
            <a:avLst/>
          </a:prstGeom>
        </p:spPr>
        <p:txBody>
          <a:bodyPr wrap="square" lIns="0" tIns="0" rIns="0" bIns="0" rtlCol="0" anchor="t">
            <a:spAutoFit/>
          </a:bodyPr>
          <a:lstStyle/>
          <a:p>
            <a:pPr algn="ctr">
              <a:lnSpc>
                <a:spcPts val="4340"/>
              </a:lnSpc>
            </a:pPr>
            <a:r>
              <a:rPr lang="en-US" sz="3100" b="1" dirty="0">
                <a:solidFill>
                  <a:srgbClr val="FFDE59"/>
                </a:solidFill>
                <a:latin typeface="Merriweather Bold"/>
                <a:ea typeface="Merriweather Bold"/>
                <a:cs typeface="Merriweather Bold"/>
                <a:sym typeface="Merriweather Bold"/>
              </a:rPr>
              <a:t>2. Is this legit?</a:t>
            </a:r>
          </a:p>
        </p:txBody>
      </p:sp>
      <p:sp>
        <p:nvSpPr>
          <p:cNvPr id="33" name="TextBox 33">
            <a:extLst>
              <a:ext uri="{FF2B5EF4-FFF2-40B4-BE49-F238E27FC236}">
                <a16:creationId xmlns:a16="http://schemas.microsoft.com/office/drawing/2014/main" id="{A719FBC1-23D0-2709-EC62-D0BF179B7B95}"/>
              </a:ext>
            </a:extLst>
          </p:cNvPr>
          <p:cNvSpPr txBox="1"/>
          <p:nvPr/>
        </p:nvSpPr>
        <p:spPr>
          <a:xfrm>
            <a:off x="404287" y="5537984"/>
            <a:ext cx="7533789" cy="1758948"/>
          </a:xfrm>
          <a:prstGeom prst="rect">
            <a:avLst/>
          </a:prstGeom>
        </p:spPr>
        <p:txBody>
          <a:bodyPr lIns="0" tIns="0" rIns="0" bIns="0" rtlCol="0" anchor="t">
            <a:spAutoFit/>
          </a:bodyPr>
          <a:lstStyle/>
          <a:p>
            <a:pPr algn="ctr">
              <a:lnSpc>
                <a:spcPts val="2800"/>
              </a:lnSpc>
            </a:pPr>
            <a:r>
              <a:rPr lang="en-US" sz="2000" b="1" dirty="0">
                <a:solidFill>
                  <a:srgbClr val="FFFFFF"/>
                </a:solidFill>
                <a:latin typeface="Merriweather Bold"/>
                <a:ea typeface="Merriweather Bold"/>
                <a:cs typeface="Merriweather Bold"/>
                <a:sym typeface="Merriweather Bold"/>
              </a:rPr>
              <a:t>Yes — this is an official EU Initiative, hosted on the European Union’s own platform (URLs ending in europa.eu). It’s not just a random online petition. This Initiative is backed by real organizers from seven EU countries and has been formally approved. </a:t>
            </a:r>
          </a:p>
        </p:txBody>
      </p:sp>
      <p:sp>
        <p:nvSpPr>
          <p:cNvPr id="34" name="TextBox 34">
            <a:extLst>
              <a:ext uri="{FF2B5EF4-FFF2-40B4-BE49-F238E27FC236}">
                <a16:creationId xmlns:a16="http://schemas.microsoft.com/office/drawing/2014/main" id="{76C23BB8-FDBA-4B11-FC3C-03337B967AB0}"/>
              </a:ext>
            </a:extLst>
          </p:cNvPr>
          <p:cNvSpPr txBox="1"/>
          <p:nvPr/>
        </p:nvSpPr>
        <p:spPr>
          <a:xfrm>
            <a:off x="2160121" y="7275803"/>
            <a:ext cx="4022119" cy="530859"/>
          </a:xfrm>
          <a:prstGeom prst="rect">
            <a:avLst/>
          </a:prstGeom>
        </p:spPr>
        <p:txBody>
          <a:bodyPr wrap="square" lIns="0" tIns="0" rIns="0" bIns="0" rtlCol="0" anchor="t">
            <a:spAutoFit/>
          </a:bodyPr>
          <a:lstStyle/>
          <a:p>
            <a:pPr algn="ctr">
              <a:lnSpc>
                <a:spcPts val="4340"/>
              </a:lnSpc>
            </a:pPr>
            <a:r>
              <a:rPr lang="en-US" sz="3100" b="1" dirty="0">
                <a:solidFill>
                  <a:srgbClr val="FFDE59"/>
                </a:solidFill>
                <a:latin typeface="Merriweather Bold"/>
                <a:ea typeface="Merriweather Bold"/>
                <a:cs typeface="Merriweather Bold"/>
                <a:sym typeface="Merriweather Bold"/>
              </a:rPr>
              <a:t>3. How do I sign?</a:t>
            </a:r>
          </a:p>
        </p:txBody>
      </p:sp>
      <p:sp>
        <p:nvSpPr>
          <p:cNvPr id="35" name="TextBox 35">
            <a:extLst>
              <a:ext uri="{FF2B5EF4-FFF2-40B4-BE49-F238E27FC236}">
                <a16:creationId xmlns:a16="http://schemas.microsoft.com/office/drawing/2014/main" id="{40E9F479-F695-0D12-1D0C-CD8AFC1DEA86}"/>
              </a:ext>
            </a:extLst>
          </p:cNvPr>
          <p:cNvSpPr txBox="1"/>
          <p:nvPr/>
        </p:nvSpPr>
        <p:spPr>
          <a:xfrm>
            <a:off x="491607" y="7735556"/>
            <a:ext cx="7890393" cy="2131481"/>
          </a:xfrm>
          <a:prstGeom prst="rect">
            <a:avLst/>
          </a:prstGeom>
        </p:spPr>
        <p:txBody>
          <a:bodyPr wrap="square" lIns="0" tIns="0" rIns="0" bIns="0" rtlCol="0" anchor="t">
            <a:spAutoFit/>
          </a:bodyPr>
          <a:lstStyle/>
          <a:p>
            <a:pPr algn="ctr">
              <a:lnSpc>
                <a:spcPts val="2800"/>
              </a:lnSpc>
            </a:pPr>
            <a:r>
              <a:rPr lang="en-US" sz="2000" b="1" dirty="0">
                <a:solidFill>
                  <a:srgbClr val="FFFFFF"/>
                </a:solidFill>
                <a:latin typeface="Merriweather Bold"/>
                <a:ea typeface="Merriweather Bold"/>
                <a:cs typeface="Merriweather Bold"/>
                <a:sym typeface="Merriweather Bold"/>
              </a:rPr>
              <a:t>Scan the QR code on this image or search for 'Stop Destroying </a:t>
            </a:r>
            <a:r>
              <a:rPr lang="en-US" sz="2000" b="1" dirty="0" err="1">
                <a:solidFill>
                  <a:srgbClr val="FFFFFF"/>
                </a:solidFill>
                <a:latin typeface="Merriweather Bold"/>
                <a:ea typeface="Merriweather Bold"/>
                <a:cs typeface="Merriweather Bold"/>
                <a:sym typeface="Merriweather Bold"/>
              </a:rPr>
              <a:t>Videogames'</a:t>
            </a:r>
            <a:r>
              <a:rPr lang="en-US" sz="2000" b="1" dirty="0">
                <a:solidFill>
                  <a:srgbClr val="FFFFFF"/>
                </a:solidFill>
                <a:latin typeface="Merriweather Bold"/>
                <a:ea typeface="Merriweather Bold"/>
                <a:cs typeface="Merriweather Bold"/>
                <a:sym typeface="Merriweather Bold"/>
              </a:rPr>
              <a:t> on the European Citizens' Initiative website. Click on the yellow button where it says 'Support this initiative' and then choose your EU country of nationality, then go through the verification process. Only citizens of EU countries can sign this Initiative (regardless of residency).</a:t>
            </a:r>
          </a:p>
        </p:txBody>
      </p:sp>
      <p:sp>
        <p:nvSpPr>
          <p:cNvPr id="38" name="TextBox 38">
            <a:extLst>
              <a:ext uri="{FF2B5EF4-FFF2-40B4-BE49-F238E27FC236}">
                <a16:creationId xmlns:a16="http://schemas.microsoft.com/office/drawing/2014/main" id="{C0814D15-1F91-F039-FD48-2ADDECE716E7}"/>
              </a:ext>
            </a:extLst>
          </p:cNvPr>
          <p:cNvSpPr txBox="1"/>
          <p:nvPr/>
        </p:nvSpPr>
        <p:spPr>
          <a:xfrm>
            <a:off x="10673778" y="2974788"/>
            <a:ext cx="7404220" cy="843244"/>
          </a:xfrm>
          <a:prstGeom prst="rect">
            <a:avLst/>
          </a:prstGeom>
        </p:spPr>
        <p:txBody>
          <a:bodyPr lIns="0" tIns="0" rIns="0" bIns="0" rtlCol="0" anchor="t">
            <a:spAutoFit/>
          </a:bodyPr>
          <a:lstStyle/>
          <a:p>
            <a:pPr algn="ctr">
              <a:lnSpc>
                <a:spcPts val="3360"/>
              </a:lnSpc>
            </a:pPr>
            <a:r>
              <a:rPr lang="en-US" sz="2400" b="1" dirty="0">
                <a:solidFill>
                  <a:srgbClr val="FFDE59"/>
                </a:solidFill>
                <a:latin typeface="Merriweather Bold"/>
                <a:ea typeface="Merriweather Bold"/>
                <a:cs typeface="Merriweather Bold"/>
                <a:sym typeface="Merriweather Bold"/>
              </a:rPr>
              <a:t>4. If this is implemented, won’t several publishers leave the EU market?</a:t>
            </a:r>
          </a:p>
        </p:txBody>
      </p:sp>
      <p:sp>
        <p:nvSpPr>
          <p:cNvPr id="39" name="TextBox 39">
            <a:extLst>
              <a:ext uri="{FF2B5EF4-FFF2-40B4-BE49-F238E27FC236}">
                <a16:creationId xmlns:a16="http://schemas.microsoft.com/office/drawing/2014/main" id="{A76D7339-F4CC-9C66-05FF-A1B6653889A7}"/>
              </a:ext>
            </a:extLst>
          </p:cNvPr>
          <p:cNvSpPr txBox="1"/>
          <p:nvPr/>
        </p:nvSpPr>
        <p:spPr>
          <a:xfrm>
            <a:off x="10600361" y="7678406"/>
            <a:ext cx="7404220" cy="405763"/>
          </a:xfrm>
          <a:prstGeom prst="rect">
            <a:avLst/>
          </a:prstGeom>
        </p:spPr>
        <p:txBody>
          <a:bodyPr lIns="0" tIns="0" rIns="0" bIns="0" rtlCol="0" anchor="t">
            <a:spAutoFit/>
          </a:bodyPr>
          <a:lstStyle/>
          <a:p>
            <a:pPr algn="ctr">
              <a:lnSpc>
                <a:spcPts val="3360"/>
              </a:lnSpc>
            </a:pPr>
            <a:r>
              <a:rPr lang="en-US" sz="2400" b="1" dirty="0">
                <a:solidFill>
                  <a:srgbClr val="FFDE59"/>
                </a:solidFill>
                <a:latin typeface="Merriweather Bold"/>
                <a:ea typeface="Merriweather Bold"/>
                <a:cs typeface="Merriweather Bold"/>
                <a:sym typeface="Merriweather Bold"/>
              </a:rPr>
              <a:t>5. I'm not from the EU, why should I care?</a:t>
            </a:r>
          </a:p>
        </p:txBody>
      </p:sp>
      <p:sp>
        <p:nvSpPr>
          <p:cNvPr id="40" name="TextBox 40">
            <a:extLst>
              <a:ext uri="{FF2B5EF4-FFF2-40B4-BE49-F238E27FC236}">
                <a16:creationId xmlns:a16="http://schemas.microsoft.com/office/drawing/2014/main" id="{8459C7A5-9118-78BF-0B65-87E721B351C0}"/>
              </a:ext>
            </a:extLst>
          </p:cNvPr>
          <p:cNvSpPr txBox="1"/>
          <p:nvPr/>
        </p:nvSpPr>
        <p:spPr>
          <a:xfrm>
            <a:off x="10964006" y="3780602"/>
            <a:ext cx="7040574" cy="3926844"/>
          </a:xfrm>
          <a:prstGeom prst="rect">
            <a:avLst/>
          </a:prstGeom>
        </p:spPr>
        <p:txBody>
          <a:bodyPr wrap="square" lIns="0" tIns="0" rIns="0" bIns="0" rtlCol="0" anchor="t">
            <a:spAutoFit/>
          </a:bodyPr>
          <a:lstStyle/>
          <a:p>
            <a:pPr algn="ctr">
              <a:lnSpc>
                <a:spcPts val="2800"/>
              </a:lnSpc>
            </a:pPr>
            <a:r>
              <a:rPr lang="en-US" sz="2000" b="1" dirty="0">
                <a:solidFill>
                  <a:srgbClr val="FFFFFF"/>
                </a:solidFill>
                <a:latin typeface="Merriweather Bold"/>
                <a:ea typeface="Merriweather Bold"/>
                <a:cs typeface="Merriweather Bold"/>
                <a:sym typeface="Merriweather Bold"/>
              </a:rPr>
              <a:t>This is a bluff from the industry. No one wants to lose out on a market of 450 million+ people because they refused to provide an end-of-life plan or repair instructions (especially from the design phase onwards for future games). </a:t>
            </a:r>
            <a:br>
              <a:rPr lang="en-US" sz="2000" b="1" dirty="0">
                <a:solidFill>
                  <a:srgbClr val="FFFFFF"/>
                </a:solidFill>
                <a:latin typeface="Merriweather Bold"/>
                <a:ea typeface="Merriweather Bold"/>
                <a:cs typeface="Merriweather Bold"/>
                <a:sym typeface="Merriweather Bold"/>
              </a:rPr>
            </a:br>
            <a:r>
              <a:rPr lang="en-US" sz="2000" b="1" dirty="0">
                <a:solidFill>
                  <a:srgbClr val="FFFFFF"/>
                </a:solidFill>
                <a:latin typeface="Merriweather Bold"/>
                <a:ea typeface="Merriweather Bold"/>
                <a:cs typeface="Merriweather Bold"/>
                <a:sym typeface="Merriweather Bold"/>
              </a:rPr>
              <a:t>Regardless, the effect of these changes will not be immediate. The </a:t>
            </a:r>
            <a:r>
              <a:rPr lang="en-US" sz="2000" b="1" dirty="0" err="1">
                <a:solidFill>
                  <a:srgbClr val="FFFFFF"/>
                </a:solidFill>
                <a:latin typeface="Merriweather Bold"/>
                <a:ea typeface="Merriweather Bold"/>
                <a:cs typeface="Merriweather Bold"/>
                <a:sym typeface="Merriweather Bold"/>
              </a:rPr>
              <a:t>organisers</a:t>
            </a:r>
            <a:r>
              <a:rPr lang="en-US" sz="2000" b="1" dirty="0">
                <a:solidFill>
                  <a:srgbClr val="FFFFFF"/>
                </a:solidFill>
                <a:latin typeface="Merriweather Bold"/>
                <a:ea typeface="Merriweather Bold"/>
                <a:cs typeface="Merriweather Bold"/>
                <a:sym typeface="Merriweather Bold"/>
              </a:rPr>
              <a:t> and the Commission will surely give ample time for publishers to implement the changes necessary to comply with the new rules. Remember, this applies to the *end* of a game's life, not its beginning or present state.</a:t>
            </a:r>
          </a:p>
        </p:txBody>
      </p:sp>
      <p:sp>
        <p:nvSpPr>
          <p:cNvPr id="41" name="TextBox 41">
            <a:extLst>
              <a:ext uri="{FF2B5EF4-FFF2-40B4-BE49-F238E27FC236}">
                <a16:creationId xmlns:a16="http://schemas.microsoft.com/office/drawing/2014/main" id="{930032D7-CD96-090B-1731-33CA9CE5D76A}"/>
              </a:ext>
            </a:extLst>
          </p:cNvPr>
          <p:cNvSpPr txBox="1"/>
          <p:nvPr/>
        </p:nvSpPr>
        <p:spPr>
          <a:xfrm>
            <a:off x="10262605" y="8094000"/>
            <a:ext cx="7533788" cy="1910267"/>
          </a:xfrm>
          <a:prstGeom prst="rect">
            <a:avLst/>
          </a:prstGeom>
        </p:spPr>
        <p:txBody>
          <a:bodyPr wrap="square" lIns="0" tIns="0" rIns="0" bIns="0" rtlCol="0" anchor="t">
            <a:spAutoFit/>
          </a:bodyPr>
          <a:lstStyle/>
          <a:p>
            <a:pPr algn="ctr">
              <a:lnSpc>
                <a:spcPts val="2520"/>
              </a:lnSpc>
            </a:pPr>
            <a:r>
              <a:rPr lang="en-US" sz="2000" b="1" dirty="0">
                <a:solidFill>
                  <a:srgbClr val="FFFFFF"/>
                </a:solidFill>
                <a:latin typeface="Merriweather Bold"/>
                <a:ea typeface="Merriweather Bold"/>
                <a:cs typeface="Merriweather Bold"/>
                <a:sym typeface="Merriweather Bold"/>
              </a:rPr>
              <a:t>While these proposed changes do not affect you directly, it's not impossible that it may later down the line. Just like the enforcement of USB-C type charging ports for iPhones in the EU and subsequently the rest of the world, this too can have a snowball effect (the Brussels Effect). This change can benefit you too! So please, spread the word!</a:t>
            </a:r>
          </a:p>
        </p:txBody>
      </p:sp>
      <p:sp>
        <p:nvSpPr>
          <p:cNvPr id="42" name="TextBox 42">
            <a:extLst>
              <a:ext uri="{FF2B5EF4-FFF2-40B4-BE49-F238E27FC236}">
                <a16:creationId xmlns:a16="http://schemas.microsoft.com/office/drawing/2014/main" id="{F4DBC707-8781-CEF7-F184-724BCD1FA603}"/>
              </a:ext>
            </a:extLst>
          </p:cNvPr>
          <p:cNvSpPr txBox="1"/>
          <p:nvPr/>
        </p:nvSpPr>
        <p:spPr>
          <a:xfrm>
            <a:off x="8130396" y="3006085"/>
            <a:ext cx="2851289" cy="1464440"/>
          </a:xfrm>
          <a:prstGeom prst="rect">
            <a:avLst/>
          </a:prstGeom>
        </p:spPr>
        <p:txBody>
          <a:bodyPr wrap="square" lIns="0" tIns="0" rIns="0" bIns="0" rtlCol="0" anchor="t">
            <a:spAutoFit/>
          </a:bodyPr>
          <a:lstStyle/>
          <a:p>
            <a:pPr algn="ctr">
              <a:lnSpc>
                <a:spcPts val="5880"/>
              </a:lnSpc>
            </a:pPr>
            <a:r>
              <a:rPr lang="en-US" sz="4200" b="1" dirty="0">
                <a:solidFill>
                  <a:srgbClr val="FFFFFF"/>
                </a:solidFill>
                <a:latin typeface="Merriweather Bold"/>
                <a:ea typeface="Merriweather Bold"/>
                <a:cs typeface="Merriweather Bold"/>
                <a:sym typeface="Merriweather Bold"/>
              </a:rPr>
              <a:t>What’s the</a:t>
            </a:r>
          </a:p>
        </p:txBody>
      </p:sp>
      <p:sp>
        <p:nvSpPr>
          <p:cNvPr id="43" name="TextBox 43">
            <a:extLst>
              <a:ext uri="{FF2B5EF4-FFF2-40B4-BE49-F238E27FC236}">
                <a16:creationId xmlns:a16="http://schemas.microsoft.com/office/drawing/2014/main" id="{B41C26E9-2AF5-A181-DE87-2C831AA3C61D}"/>
              </a:ext>
            </a:extLst>
          </p:cNvPr>
          <p:cNvSpPr txBox="1"/>
          <p:nvPr/>
        </p:nvSpPr>
        <p:spPr>
          <a:xfrm>
            <a:off x="7837480" y="7181373"/>
            <a:ext cx="3326042" cy="707822"/>
          </a:xfrm>
          <a:prstGeom prst="rect">
            <a:avLst/>
          </a:prstGeom>
        </p:spPr>
        <p:txBody>
          <a:bodyPr wrap="square" lIns="0" tIns="0" rIns="0" bIns="0" rtlCol="0" anchor="t">
            <a:spAutoFit/>
          </a:bodyPr>
          <a:lstStyle/>
          <a:p>
            <a:pPr algn="ctr">
              <a:lnSpc>
                <a:spcPts val="5880"/>
              </a:lnSpc>
            </a:pPr>
            <a:r>
              <a:rPr lang="en-US" sz="4200" b="1" dirty="0">
                <a:solidFill>
                  <a:srgbClr val="FFFFFF"/>
                </a:solidFill>
                <a:latin typeface="Merriweather Bold"/>
                <a:ea typeface="Merriweather Bold"/>
                <a:cs typeface="Merriweather Bold"/>
                <a:sym typeface="Merriweather Bold"/>
              </a:rPr>
              <a:t>Alternative?</a:t>
            </a:r>
          </a:p>
        </p:txBody>
      </p:sp>
    </p:spTree>
    <p:extLst>
      <p:ext uri="{BB962C8B-B14F-4D97-AF65-F5344CB8AC3E}">
        <p14:creationId xmlns:p14="http://schemas.microsoft.com/office/powerpoint/2010/main" val="1304126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Box 36"/>
          <p:cNvSpPr txBox="1"/>
          <p:nvPr/>
        </p:nvSpPr>
        <p:spPr>
          <a:xfrm>
            <a:off x="18818406" y="1802767"/>
            <a:ext cx="6213120" cy="493790"/>
          </a:xfrm>
          <a:prstGeom prst="rect">
            <a:avLst/>
          </a:prstGeom>
        </p:spPr>
        <p:txBody>
          <a:bodyPr lIns="0" tIns="0" rIns="0" bIns="0" rtlCol="0" anchor="t">
            <a:spAutoFit/>
          </a:bodyPr>
          <a:lstStyle/>
          <a:p>
            <a:pPr algn="ctr">
              <a:lnSpc>
                <a:spcPts val="4340"/>
              </a:lnSpc>
            </a:pPr>
            <a:r>
              <a:rPr lang="en-US" sz="2400" b="1" dirty="0">
                <a:solidFill>
                  <a:srgbClr val="FFDE59"/>
                </a:solidFill>
                <a:latin typeface="Merriweather Bold"/>
                <a:ea typeface="Merriweather Bold"/>
                <a:cs typeface="Merriweather Bold"/>
                <a:sym typeface="Merriweather Bold"/>
              </a:rPr>
              <a:t>4. When is the deadline to sign?</a:t>
            </a:r>
          </a:p>
        </p:txBody>
      </p:sp>
      <p:sp>
        <p:nvSpPr>
          <p:cNvPr id="37" name="TextBox 37"/>
          <p:cNvSpPr txBox="1"/>
          <p:nvPr/>
        </p:nvSpPr>
        <p:spPr>
          <a:xfrm>
            <a:off x="18362026" y="2370292"/>
            <a:ext cx="6644100" cy="1054098"/>
          </a:xfrm>
          <a:prstGeom prst="rect">
            <a:avLst/>
          </a:prstGeom>
        </p:spPr>
        <p:txBody>
          <a:bodyPr lIns="0" tIns="0" rIns="0" bIns="0" rtlCol="0" anchor="t">
            <a:spAutoFit/>
          </a:bodyPr>
          <a:lstStyle/>
          <a:p>
            <a:pPr algn="ctr">
              <a:lnSpc>
                <a:spcPts val="2800"/>
              </a:lnSpc>
            </a:pPr>
            <a:r>
              <a:rPr lang="en-US" sz="2000" b="1" dirty="0">
                <a:solidFill>
                  <a:srgbClr val="FFFFFF"/>
                </a:solidFill>
                <a:latin typeface="Merriweather Bold"/>
                <a:ea typeface="Merriweather Bold"/>
                <a:cs typeface="Merriweather Bold"/>
                <a:sym typeface="Merriweather Bold"/>
              </a:rPr>
              <a:t>The deadline is the 31st of July 2025. Share this image or the petition link with your family, friends, and on social media!</a:t>
            </a:r>
          </a:p>
        </p:txBody>
      </p:sp>
    </p:spTree>
    <p:extLst>
      <p:ext uri="{BB962C8B-B14F-4D97-AF65-F5344CB8AC3E}">
        <p14:creationId xmlns:p14="http://schemas.microsoft.com/office/powerpoint/2010/main" val="9388227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TotalTime>
  <Words>863</Words>
  <Application>Microsoft Office PowerPoint</Application>
  <PresentationFormat>Custom</PresentationFormat>
  <Paragraphs>32</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Merriweather Bold</vt:lpstr>
      <vt:lpstr>Anton</vt:lpstr>
      <vt:lpstr>Arial</vt:lpstr>
      <vt:lpstr>DM Serif Display</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MORE DUBIOUS VIDEOGAME OWNERSHIP RIGHTS</dc:title>
  <dc:creator>Patrick Kozyra</dc:creator>
  <cp:lastModifiedBy>Patrick Kozyra</cp:lastModifiedBy>
  <cp:revision>2</cp:revision>
  <dcterms:created xsi:type="dcterms:W3CDTF">2006-08-16T00:00:00Z</dcterms:created>
  <dcterms:modified xsi:type="dcterms:W3CDTF">2025-04-27T02:57:19Z</dcterms:modified>
  <dc:identifier>DAGklwxBvKM</dc:identifier>
</cp:coreProperties>
</file>